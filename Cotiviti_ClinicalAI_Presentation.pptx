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62" r:id="rId4"/>
    <p:sldId id="263" r:id="rId5"/>
    <p:sldId id="264" r:id="rId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71" d="100"/>
          <a:sy n="71" d="100"/>
        </p:scale>
        <p:origin x="1000" y="3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4B0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303520"/>
            <a:ext cx="12188952" cy="1554480"/>
          </a:xfrm>
          <a:prstGeom prst="rect">
            <a:avLst/>
          </a:prstGeom>
          <a:solidFill>
            <a:srgbClr val="3A0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65760" y="2926080"/>
            <a:ext cx="1463040" cy="64008"/>
          </a:xfrm>
          <a:prstGeom prst="rect">
            <a:avLst/>
          </a:prstGeom>
          <a:solidFill>
            <a:srgbClr val="D91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274320"/>
            <a:ext cx="4572000" cy="548640"/>
          </a:xfrm>
          <a:prstGeom prst="rect">
            <a:avLst/>
          </a:prstGeom>
          <a:noFill/>
        </p:spPr>
        <p:txBody>
          <a:bodyPr wrap="square">
            <a:spAutoFit/>
          </a:bodyPr>
          <a:lstStyle/>
          <a:p>
            <a:pPr algn="l"/>
            <a:r>
              <a:rPr sz="1400" b="1">
                <a:solidFill>
                  <a:srgbClr val="FFFFFF"/>
                </a:solidFill>
              </a:rPr>
              <a:t>COTIVITI</a:t>
            </a:r>
          </a:p>
        </p:txBody>
      </p:sp>
      <p:sp>
        <p:nvSpPr>
          <p:cNvPr id="6" name="TextBox 5"/>
          <p:cNvSpPr txBox="1"/>
          <p:nvPr/>
        </p:nvSpPr>
        <p:spPr>
          <a:xfrm>
            <a:off x="365760" y="594360"/>
            <a:ext cx="8229600" cy="365760"/>
          </a:xfrm>
          <a:prstGeom prst="rect">
            <a:avLst/>
          </a:prstGeom>
          <a:noFill/>
        </p:spPr>
        <p:txBody>
          <a:bodyPr wrap="square">
            <a:spAutoFit/>
          </a:bodyPr>
          <a:lstStyle/>
          <a:p>
            <a:pPr algn="l"/>
            <a:r>
              <a:rPr sz="1200" b="0">
                <a:solidFill>
                  <a:srgbClr val="CCBBEE"/>
                </a:solidFill>
              </a:rPr>
              <a:t>Intern Assessment — Generative AI Developer</a:t>
            </a:r>
          </a:p>
        </p:txBody>
      </p:sp>
      <p:sp>
        <p:nvSpPr>
          <p:cNvPr id="7" name="TextBox 6"/>
          <p:cNvSpPr txBox="1"/>
          <p:nvPr/>
        </p:nvSpPr>
        <p:spPr>
          <a:xfrm>
            <a:off x="365760" y="1097280"/>
            <a:ext cx="10972800" cy="2554545"/>
          </a:xfrm>
          <a:prstGeom prst="rect">
            <a:avLst/>
          </a:prstGeom>
          <a:noFill/>
        </p:spPr>
        <p:txBody>
          <a:bodyPr wrap="square">
            <a:spAutoFit/>
          </a:bodyPr>
          <a:lstStyle/>
          <a:p>
            <a:pPr algn="l"/>
            <a:r>
              <a:rPr sz="4000" b="1" dirty="0">
                <a:solidFill>
                  <a:srgbClr val="FFFFFF"/>
                </a:solidFill>
              </a:rPr>
              <a:t>Clinical Decision Making
and Pattern Recognition
in Health Care</a:t>
            </a:r>
            <a:br>
              <a:rPr lang="en-US" sz="4000" b="1" dirty="0">
                <a:solidFill>
                  <a:srgbClr val="FFFFFF"/>
                </a:solidFill>
              </a:rPr>
            </a:br>
            <a:endParaRPr sz="4000" b="1" dirty="0">
              <a:solidFill>
                <a:srgbClr val="FFFFFF"/>
              </a:solidFill>
            </a:endParaRPr>
          </a:p>
        </p:txBody>
      </p:sp>
      <p:sp>
        <p:nvSpPr>
          <p:cNvPr id="8" name="TextBox 7"/>
          <p:cNvSpPr txBox="1"/>
          <p:nvPr/>
        </p:nvSpPr>
        <p:spPr>
          <a:xfrm>
            <a:off x="365760" y="3154680"/>
            <a:ext cx="10972800" cy="457200"/>
          </a:xfrm>
          <a:prstGeom prst="rect">
            <a:avLst/>
          </a:prstGeom>
          <a:noFill/>
        </p:spPr>
        <p:txBody>
          <a:bodyPr wrap="square">
            <a:spAutoFit/>
          </a:bodyPr>
          <a:lstStyle/>
          <a:p>
            <a:pPr algn="l"/>
            <a:r>
              <a:rPr sz="1800" b="0">
                <a:solidFill>
                  <a:srgbClr val="DDCCFF"/>
                </a:solidFill>
              </a:rPr>
              <a:t>Agentic AI for Treatment, Payment &amp; Operations (TPO)</a:t>
            </a:r>
          </a:p>
        </p:txBody>
      </p:sp>
      <p:sp>
        <p:nvSpPr>
          <p:cNvPr id="9" name="TextBox 8"/>
          <p:cNvSpPr txBox="1"/>
          <p:nvPr/>
        </p:nvSpPr>
        <p:spPr>
          <a:xfrm>
            <a:off x="365760" y="5486400"/>
            <a:ext cx="5486400" cy="365760"/>
          </a:xfrm>
          <a:prstGeom prst="rect">
            <a:avLst/>
          </a:prstGeom>
          <a:noFill/>
        </p:spPr>
        <p:txBody>
          <a:bodyPr wrap="square">
            <a:spAutoFit/>
          </a:bodyPr>
          <a:lstStyle/>
          <a:p>
            <a:pPr algn="l"/>
            <a:r>
              <a:rPr sz="1400" b="1">
                <a:solidFill>
                  <a:srgbClr val="FFFFFF"/>
                </a:solidFill>
              </a:rPr>
              <a:t>Sai Deepa Kadaru</a:t>
            </a:r>
          </a:p>
        </p:txBody>
      </p:sp>
      <p:sp>
        <p:nvSpPr>
          <p:cNvPr id="10" name="TextBox 9"/>
          <p:cNvSpPr txBox="1"/>
          <p:nvPr/>
        </p:nvSpPr>
        <p:spPr>
          <a:xfrm>
            <a:off x="365760" y="5833872"/>
            <a:ext cx="6400800" cy="320040"/>
          </a:xfrm>
          <a:prstGeom prst="rect">
            <a:avLst/>
          </a:prstGeom>
          <a:noFill/>
        </p:spPr>
        <p:txBody>
          <a:bodyPr wrap="square">
            <a:spAutoFit/>
          </a:bodyPr>
          <a:lstStyle/>
          <a:p>
            <a:pPr algn="l"/>
            <a:r>
              <a:rPr sz="1200" b="0">
                <a:solidFill>
                  <a:srgbClr val="CCBBEE"/>
                </a:solidFill>
              </a:rPr>
              <a:t>Ohio University  |  M.S. Computer Science</a:t>
            </a:r>
          </a:p>
        </p:txBody>
      </p:sp>
      <p:sp>
        <p:nvSpPr>
          <p:cNvPr id="11" name="TextBox 10"/>
          <p:cNvSpPr txBox="1"/>
          <p:nvPr/>
        </p:nvSpPr>
        <p:spPr>
          <a:xfrm>
            <a:off x="10515600" y="5486400"/>
            <a:ext cx="1371600" cy="365760"/>
          </a:xfrm>
          <a:prstGeom prst="rect">
            <a:avLst/>
          </a:prstGeom>
          <a:noFill/>
        </p:spPr>
        <p:txBody>
          <a:bodyPr wrap="square">
            <a:spAutoFit/>
          </a:bodyPr>
          <a:lstStyle/>
          <a:p>
            <a:pPr algn="r"/>
            <a:r>
              <a:rPr sz="1200" b="0">
                <a:solidFill>
                  <a:srgbClr val="CCBBEE"/>
                </a:solidFill>
              </a:rPr>
              <a:t>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4B0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2743200" cy="411480"/>
          </a:xfrm>
          <a:prstGeom prst="rect">
            <a:avLst/>
          </a:prstGeom>
          <a:noFill/>
        </p:spPr>
        <p:txBody>
          <a:bodyPr wrap="square">
            <a:spAutoFit/>
          </a:bodyPr>
          <a:lstStyle/>
          <a:p>
            <a:pPr algn="l"/>
            <a:r>
              <a:rPr sz="1300" b="1">
                <a:solidFill>
                  <a:srgbClr val="FFFFFF"/>
                </a:solidFill>
              </a:rPr>
              <a:t>COTIVITI</a:t>
            </a:r>
          </a:p>
        </p:txBody>
      </p:sp>
      <p:sp>
        <p:nvSpPr>
          <p:cNvPr id="4" name="TextBox 3"/>
          <p:cNvSpPr txBox="1"/>
          <p:nvPr/>
        </p:nvSpPr>
        <p:spPr>
          <a:xfrm>
            <a:off x="365760" y="457200"/>
            <a:ext cx="10972800" cy="548640"/>
          </a:xfrm>
          <a:prstGeom prst="rect">
            <a:avLst/>
          </a:prstGeom>
          <a:noFill/>
        </p:spPr>
        <p:txBody>
          <a:bodyPr wrap="square">
            <a:spAutoFit/>
          </a:bodyPr>
          <a:lstStyle/>
          <a:p>
            <a:pPr algn="l"/>
            <a:r>
              <a:rPr sz="2600" b="1">
                <a:solidFill>
                  <a:srgbClr val="FFFFFF"/>
                </a:solidFill>
              </a:rPr>
              <a:t>Concept Definition</a:t>
            </a:r>
          </a:p>
        </p:txBody>
      </p:sp>
      <p:sp>
        <p:nvSpPr>
          <p:cNvPr id="5" name="TextBox 4"/>
          <p:cNvSpPr txBox="1"/>
          <p:nvPr/>
        </p:nvSpPr>
        <p:spPr>
          <a:xfrm>
            <a:off x="365760" y="960120"/>
            <a:ext cx="10972800" cy="320040"/>
          </a:xfrm>
          <a:prstGeom prst="rect">
            <a:avLst/>
          </a:prstGeom>
          <a:noFill/>
        </p:spPr>
        <p:txBody>
          <a:bodyPr wrap="square">
            <a:spAutoFit/>
          </a:bodyPr>
          <a:lstStyle/>
          <a:p>
            <a:pPr algn="l"/>
            <a:r>
              <a:rPr sz="1300" b="0">
                <a:solidFill>
                  <a:srgbClr val="CCBBEE"/>
                </a:solidFill>
              </a:rPr>
              <a:t>What is Clinical Decision Making &amp; Pattern Recognition?</a:t>
            </a:r>
          </a:p>
        </p:txBody>
      </p:sp>
      <p:sp>
        <p:nvSpPr>
          <p:cNvPr id="7" name="TextBox 6"/>
          <p:cNvSpPr txBox="1"/>
          <p:nvPr/>
        </p:nvSpPr>
        <p:spPr>
          <a:xfrm>
            <a:off x="457200" y="1508760"/>
            <a:ext cx="11247120" cy="1661993"/>
          </a:xfrm>
          <a:prstGeom prst="rect">
            <a:avLst/>
          </a:prstGeom>
          <a:noFill/>
        </p:spPr>
        <p:txBody>
          <a:bodyPr wrap="square">
            <a:spAutoFit/>
          </a:bodyPr>
          <a:lstStyle/>
          <a:p>
            <a:pPr algn="l"/>
            <a:r>
              <a:rPr sz="1400" b="0" dirty="0"/>
              <a:t>The process of evaluating complex, multi-variable information to determine appropriate courses of action across patient care, payment adjudication, and operational management enabled at scale through AI pattern recognition.</a:t>
            </a:r>
            <a:endParaRPr lang="en-US" sz="1400" b="0" dirty="0"/>
          </a:p>
          <a:p>
            <a:pPr algn="l"/>
            <a:endParaRPr lang="en-US" sz="1400" dirty="0">
              <a:solidFill>
                <a:srgbClr val="666666"/>
              </a:solidFill>
            </a:endParaRPr>
          </a:p>
          <a:p>
            <a:pPr algn="l"/>
            <a:endParaRPr lang="en-US" sz="1400" b="0" dirty="0">
              <a:solidFill>
                <a:srgbClr val="666666"/>
              </a:solidFill>
            </a:endParaRPr>
          </a:p>
          <a:p>
            <a:r>
              <a:rPr lang="en-US" sz="1400" dirty="0"/>
              <a:t>What makes AI powerful here is pattern recognition. Instead of relying purely on human judgment, AI can detect patterns across thousands of cases simultaneously. These form the foundation of any intelligent clinical decision support system and they map directly to Cotiviti's Treatment, Payment, and Operations workflows</a:t>
            </a:r>
            <a:r>
              <a:rPr lang="en-US" dirty="0"/>
              <a:t>.</a:t>
            </a:r>
            <a:endParaRPr sz="1400" b="0" dirty="0">
              <a:solidFill>
                <a:srgbClr val="666666"/>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4B0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2743200" cy="411480"/>
          </a:xfrm>
          <a:prstGeom prst="rect">
            <a:avLst/>
          </a:prstGeom>
          <a:noFill/>
        </p:spPr>
        <p:txBody>
          <a:bodyPr wrap="square">
            <a:spAutoFit/>
          </a:bodyPr>
          <a:lstStyle/>
          <a:p>
            <a:pPr algn="l"/>
            <a:r>
              <a:rPr sz="1300" b="1">
                <a:solidFill>
                  <a:srgbClr val="FFFFFF"/>
                </a:solidFill>
              </a:rPr>
              <a:t>COTIVITI</a:t>
            </a:r>
          </a:p>
        </p:txBody>
      </p:sp>
      <p:sp>
        <p:nvSpPr>
          <p:cNvPr id="4" name="TextBox 3"/>
          <p:cNvSpPr txBox="1"/>
          <p:nvPr/>
        </p:nvSpPr>
        <p:spPr>
          <a:xfrm>
            <a:off x="365760" y="457200"/>
            <a:ext cx="10972800" cy="548640"/>
          </a:xfrm>
          <a:prstGeom prst="rect">
            <a:avLst/>
          </a:prstGeom>
          <a:noFill/>
        </p:spPr>
        <p:txBody>
          <a:bodyPr wrap="square">
            <a:spAutoFit/>
          </a:bodyPr>
          <a:lstStyle/>
          <a:p>
            <a:pPr algn="l"/>
            <a:r>
              <a:rPr sz="2600" b="1">
                <a:solidFill>
                  <a:srgbClr val="FFFFFF"/>
                </a:solidFill>
              </a:rPr>
              <a:t>Hackathon POC — Architecture</a:t>
            </a:r>
          </a:p>
        </p:txBody>
      </p:sp>
      <p:sp>
        <p:nvSpPr>
          <p:cNvPr id="5" name="TextBox 4"/>
          <p:cNvSpPr txBox="1"/>
          <p:nvPr/>
        </p:nvSpPr>
        <p:spPr>
          <a:xfrm>
            <a:off x="365760" y="960120"/>
            <a:ext cx="10972800" cy="320040"/>
          </a:xfrm>
          <a:prstGeom prst="rect">
            <a:avLst/>
          </a:prstGeom>
          <a:noFill/>
        </p:spPr>
        <p:txBody>
          <a:bodyPr wrap="square">
            <a:spAutoFit/>
          </a:bodyPr>
          <a:lstStyle/>
          <a:p>
            <a:pPr algn="l"/>
            <a:r>
              <a:rPr sz="1300" b="0">
                <a:solidFill>
                  <a:srgbClr val="CCBBEE"/>
                </a:solidFill>
              </a:rPr>
              <a:t>LangGraph Multi-Agent Clinical Decision Support System</a:t>
            </a:r>
          </a:p>
        </p:txBody>
      </p:sp>
      <p:sp>
        <p:nvSpPr>
          <p:cNvPr id="7" name="Rectangle 6"/>
          <p:cNvSpPr/>
          <p:nvPr/>
        </p:nvSpPr>
        <p:spPr>
          <a:xfrm>
            <a:off x="274320" y="1828800"/>
            <a:ext cx="2011680" cy="868680"/>
          </a:xfrm>
          <a:prstGeom prst="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20040" y="1920240"/>
            <a:ext cx="1920240" cy="685800"/>
          </a:xfrm>
          <a:prstGeom prst="rect">
            <a:avLst/>
          </a:prstGeom>
          <a:noFill/>
        </p:spPr>
        <p:txBody>
          <a:bodyPr wrap="square">
            <a:spAutoFit/>
          </a:bodyPr>
          <a:lstStyle/>
          <a:p>
            <a:pPr algn="ctr"/>
            <a:r>
              <a:rPr sz="1200" b="1">
                <a:solidFill>
                  <a:srgbClr val="FFFFFF"/>
                </a:solidFill>
              </a:rPr>
              <a:t>User Query</a:t>
            </a:r>
          </a:p>
        </p:txBody>
      </p:sp>
      <p:sp>
        <p:nvSpPr>
          <p:cNvPr id="9" name="TextBox 8"/>
          <p:cNvSpPr txBox="1"/>
          <p:nvPr/>
        </p:nvSpPr>
        <p:spPr>
          <a:xfrm>
            <a:off x="2286000" y="2103120"/>
            <a:ext cx="320040" cy="365760"/>
          </a:xfrm>
          <a:prstGeom prst="rect">
            <a:avLst/>
          </a:prstGeom>
          <a:noFill/>
        </p:spPr>
        <p:txBody>
          <a:bodyPr wrap="square">
            <a:spAutoFit/>
          </a:bodyPr>
          <a:lstStyle/>
          <a:p>
            <a:pPr algn="ctr"/>
            <a:r>
              <a:rPr sz="1800" b="1">
                <a:solidFill>
                  <a:srgbClr val="4B0082"/>
                </a:solidFill>
              </a:rPr>
              <a:t>-&gt;</a:t>
            </a:r>
          </a:p>
        </p:txBody>
      </p:sp>
      <p:sp>
        <p:nvSpPr>
          <p:cNvPr id="10" name="Rectangle 9"/>
          <p:cNvSpPr/>
          <p:nvPr/>
        </p:nvSpPr>
        <p:spPr>
          <a:xfrm>
            <a:off x="2606039" y="1828800"/>
            <a:ext cx="2011680" cy="868680"/>
          </a:xfrm>
          <a:prstGeom prst="rect">
            <a:avLst/>
          </a:prstGeom>
          <a:solidFill>
            <a:srgbClr val="4B0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51759" y="1920240"/>
            <a:ext cx="1920240" cy="685800"/>
          </a:xfrm>
          <a:prstGeom prst="rect">
            <a:avLst/>
          </a:prstGeom>
          <a:noFill/>
        </p:spPr>
        <p:txBody>
          <a:bodyPr wrap="square">
            <a:spAutoFit/>
          </a:bodyPr>
          <a:lstStyle/>
          <a:p>
            <a:pPr algn="ctr"/>
            <a:r>
              <a:rPr sz="1200" b="1">
                <a:solidFill>
                  <a:srgbClr val="FFFFFF"/>
                </a:solidFill>
              </a:rPr>
              <a:t>Validation Gate
gpt-4o-mini</a:t>
            </a:r>
          </a:p>
        </p:txBody>
      </p:sp>
      <p:sp>
        <p:nvSpPr>
          <p:cNvPr id="12" name="TextBox 11"/>
          <p:cNvSpPr txBox="1"/>
          <p:nvPr/>
        </p:nvSpPr>
        <p:spPr>
          <a:xfrm>
            <a:off x="4617720" y="2103120"/>
            <a:ext cx="320040" cy="365760"/>
          </a:xfrm>
          <a:prstGeom prst="rect">
            <a:avLst/>
          </a:prstGeom>
          <a:noFill/>
        </p:spPr>
        <p:txBody>
          <a:bodyPr wrap="square">
            <a:spAutoFit/>
          </a:bodyPr>
          <a:lstStyle/>
          <a:p>
            <a:pPr algn="ctr"/>
            <a:r>
              <a:rPr sz="1800" b="1">
                <a:solidFill>
                  <a:srgbClr val="4B0082"/>
                </a:solidFill>
              </a:rPr>
              <a:t>-&gt;</a:t>
            </a:r>
          </a:p>
        </p:txBody>
      </p:sp>
      <p:sp>
        <p:nvSpPr>
          <p:cNvPr id="13" name="Rectangle 12"/>
          <p:cNvSpPr/>
          <p:nvPr/>
        </p:nvSpPr>
        <p:spPr>
          <a:xfrm>
            <a:off x="4937759" y="1828800"/>
            <a:ext cx="2011680" cy="868680"/>
          </a:xfrm>
          <a:prstGeom prst="rect">
            <a:avLst/>
          </a:prstGeom>
          <a:solidFill>
            <a:srgbClr val="4B0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83479" y="1920240"/>
            <a:ext cx="1920240" cy="685800"/>
          </a:xfrm>
          <a:prstGeom prst="rect">
            <a:avLst/>
          </a:prstGeom>
          <a:noFill/>
        </p:spPr>
        <p:txBody>
          <a:bodyPr wrap="square">
            <a:spAutoFit/>
          </a:bodyPr>
          <a:lstStyle/>
          <a:p>
            <a:pPr algn="ctr"/>
            <a:r>
              <a:rPr sz="1200" b="1">
                <a:solidFill>
                  <a:srgbClr val="FFFFFF"/>
                </a:solidFill>
              </a:rPr>
              <a:t>Router Agent
gpt-4o-mini</a:t>
            </a:r>
          </a:p>
        </p:txBody>
      </p:sp>
      <p:sp>
        <p:nvSpPr>
          <p:cNvPr id="15" name="TextBox 14"/>
          <p:cNvSpPr txBox="1"/>
          <p:nvPr/>
        </p:nvSpPr>
        <p:spPr>
          <a:xfrm>
            <a:off x="6949440" y="2103120"/>
            <a:ext cx="320040" cy="365760"/>
          </a:xfrm>
          <a:prstGeom prst="rect">
            <a:avLst/>
          </a:prstGeom>
          <a:noFill/>
        </p:spPr>
        <p:txBody>
          <a:bodyPr wrap="square">
            <a:spAutoFit/>
          </a:bodyPr>
          <a:lstStyle/>
          <a:p>
            <a:pPr algn="ctr"/>
            <a:r>
              <a:rPr sz="1800" b="1">
                <a:solidFill>
                  <a:srgbClr val="4B0082"/>
                </a:solidFill>
              </a:rPr>
              <a:t>-&gt;</a:t>
            </a:r>
          </a:p>
        </p:txBody>
      </p:sp>
      <p:sp>
        <p:nvSpPr>
          <p:cNvPr id="16" name="Rectangle 15"/>
          <p:cNvSpPr/>
          <p:nvPr/>
        </p:nvSpPr>
        <p:spPr>
          <a:xfrm>
            <a:off x="7269479" y="1828800"/>
            <a:ext cx="2011680" cy="868680"/>
          </a:xfrm>
          <a:prstGeom prst="rect">
            <a:avLst/>
          </a:prstGeom>
          <a:solidFill>
            <a:srgbClr val="4B0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199" y="1920240"/>
            <a:ext cx="1920240" cy="685800"/>
          </a:xfrm>
          <a:prstGeom prst="rect">
            <a:avLst/>
          </a:prstGeom>
          <a:noFill/>
        </p:spPr>
        <p:txBody>
          <a:bodyPr wrap="square">
            <a:spAutoFit/>
          </a:bodyPr>
          <a:lstStyle/>
          <a:p>
            <a:pPr algn="ctr"/>
            <a:r>
              <a:rPr sz="1200" b="1">
                <a:solidFill>
                  <a:srgbClr val="FFFFFF"/>
                </a:solidFill>
              </a:rPr>
              <a:t>Domain Agent
gpt-4o-mini</a:t>
            </a:r>
          </a:p>
        </p:txBody>
      </p:sp>
      <p:sp>
        <p:nvSpPr>
          <p:cNvPr id="18" name="TextBox 17"/>
          <p:cNvSpPr txBox="1"/>
          <p:nvPr/>
        </p:nvSpPr>
        <p:spPr>
          <a:xfrm>
            <a:off x="9281159" y="2103120"/>
            <a:ext cx="320040" cy="365760"/>
          </a:xfrm>
          <a:prstGeom prst="rect">
            <a:avLst/>
          </a:prstGeom>
          <a:noFill/>
        </p:spPr>
        <p:txBody>
          <a:bodyPr wrap="square">
            <a:spAutoFit/>
          </a:bodyPr>
          <a:lstStyle/>
          <a:p>
            <a:pPr algn="ctr"/>
            <a:r>
              <a:rPr sz="1800" b="1">
                <a:solidFill>
                  <a:srgbClr val="4B0082"/>
                </a:solidFill>
              </a:rPr>
              <a:t>-&gt;</a:t>
            </a:r>
          </a:p>
        </p:txBody>
      </p:sp>
      <p:sp>
        <p:nvSpPr>
          <p:cNvPr id="19" name="Rectangle 18"/>
          <p:cNvSpPr/>
          <p:nvPr/>
        </p:nvSpPr>
        <p:spPr>
          <a:xfrm>
            <a:off x="9601200" y="1828800"/>
            <a:ext cx="2011680" cy="868680"/>
          </a:xfrm>
          <a:prstGeom prst="rect">
            <a:avLst/>
          </a:prstGeom>
          <a:solidFill>
            <a:srgbClr val="D91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46920" y="1920240"/>
            <a:ext cx="1920240" cy="685800"/>
          </a:xfrm>
          <a:prstGeom prst="rect">
            <a:avLst/>
          </a:prstGeom>
          <a:noFill/>
        </p:spPr>
        <p:txBody>
          <a:bodyPr wrap="square">
            <a:spAutoFit/>
          </a:bodyPr>
          <a:lstStyle/>
          <a:p>
            <a:pPr algn="ctr"/>
            <a:r>
              <a:rPr sz="1200" b="1">
                <a:solidFill>
                  <a:srgbClr val="FFFFFF"/>
                </a:solidFill>
              </a:rPr>
              <a:t>LLM-as-Judge
gpt-5-nano</a:t>
            </a:r>
          </a:p>
        </p:txBody>
      </p:sp>
      <p:sp>
        <p:nvSpPr>
          <p:cNvPr id="21" name="Rectangle 20"/>
          <p:cNvSpPr/>
          <p:nvPr/>
        </p:nvSpPr>
        <p:spPr>
          <a:xfrm>
            <a:off x="1371600" y="3108960"/>
            <a:ext cx="1920240" cy="68580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417320" y="3200400"/>
            <a:ext cx="1828800" cy="548640"/>
          </a:xfrm>
          <a:prstGeom prst="rect">
            <a:avLst/>
          </a:prstGeom>
          <a:noFill/>
        </p:spPr>
        <p:txBody>
          <a:bodyPr wrap="square">
            <a:spAutoFit/>
          </a:bodyPr>
          <a:lstStyle/>
          <a:p>
            <a:pPr algn="ctr"/>
            <a:r>
              <a:rPr sz="1200" b="1">
                <a:solidFill>
                  <a:srgbClr val="FFFFFF"/>
                </a:solidFill>
              </a:rPr>
              <a:t>Treatment
Agent</a:t>
            </a:r>
          </a:p>
        </p:txBody>
      </p:sp>
      <p:sp>
        <p:nvSpPr>
          <p:cNvPr id="23" name="Rectangle 22"/>
          <p:cNvSpPr/>
          <p:nvPr/>
        </p:nvSpPr>
        <p:spPr>
          <a:xfrm>
            <a:off x="4297680" y="3108960"/>
            <a:ext cx="1920240" cy="68580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265612" y="3223260"/>
            <a:ext cx="1828800" cy="548640"/>
          </a:xfrm>
          <a:prstGeom prst="rect">
            <a:avLst/>
          </a:prstGeom>
          <a:noFill/>
        </p:spPr>
        <p:txBody>
          <a:bodyPr wrap="square">
            <a:spAutoFit/>
          </a:bodyPr>
          <a:lstStyle/>
          <a:p>
            <a:pPr algn="ctr"/>
            <a:r>
              <a:rPr sz="1200" b="1" dirty="0">
                <a:solidFill>
                  <a:srgbClr val="FFFFFF"/>
                </a:solidFill>
              </a:rPr>
              <a:t>Payment
Agent</a:t>
            </a:r>
          </a:p>
        </p:txBody>
      </p:sp>
      <p:sp>
        <p:nvSpPr>
          <p:cNvPr id="25" name="Rectangle 24"/>
          <p:cNvSpPr/>
          <p:nvPr/>
        </p:nvSpPr>
        <p:spPr>
          <a:xfrm>
            <a:off x="7223760" y="3108960"/>
            <a:ext cx="1920240" cy="68580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269480" y="3200400"/>
            <a:ext cx="1828800" cy="548640"/>
          </a:xfrm>
          <a:prstGeom prst="rect">
            <a:avLst/>
          </a:prstGeom>
          <a:noFill/>
        </p:spPr>
        <p:txBody>
          <a:bodyPr wrap="square">
            <a:spAutoFit/>
          </a:bodyPr>
          <a:lstStyle/>
          <a:p>
            <a:pPr algn="ctr"/>
            <a:r>
              <a:rPr sz="1200" b="1">
                <a:solidFill>
                  <a:srgbClr val="FFFFFF"/>
                </a:solidFill>
              </a:rPr>
              <a:t>Operations
Agent</a:t>
            </a:r>
          </a:p>
        </p:txBody>
      </p:sp>
      <p:sp>
        <p:nvSpPr>
          <p:cNvPr id="27" name="TextBox 26"/>
          <p:cNvSpPr txBox="1"/>
          <p:nvPr/>
        </p:nvSpPr>
        <p:spPr>
          <a:xfrm>
            <a:off x="1188720" y="2834640"/>
            <a:ext cx="7315200" cy="274320"/>
          </a:xfrm>
          <a:prstGeom prst="rect">
            <a:avLst/>
          </a:prstGeom>
          <a:noFill/>
        </p:spPr>
        <p:txBody>
          <a:bodyPr wrap="square">
            <a:spAutoFit/>
          </a:bodyPr>
          <a:lstStyle/>
          <a:p>
            <a:pPr algn="ctr"/>
            <a:r>
              <a:rPr sz="1100" b="0" dirty="0">
                <a:solidFill>
                  <a:srgbClr val="666666"/>
                </a:solidFill>
              </a:rPr>
              <a:t>Routed by classified domain</a:t>
            </a:r>
          </a:p>
        </p:txBody>
      </p:sp>
      <p:sp>
        <p:nvSpPr>
          <p:cNvPr id="28" name="Rectangle 27"/>
          <p:cNvSpPr/>
          <p:nvPr/>
        </p:nvSpPr>
        <p:spPr>
          <a:xfrm>
            <a:off x="457200" y="4160520"/>
            <a:ext cx="2377440" cy="685800"/>
          </a:xfrm>
          <a:prstGeom prst="rect">
            <a:avLst/>
          </a:prstGeom>
          <a:solidFill>
            <a:srgbClr val="F4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 y="4251959"/>
            <a:ext cx="2286000" cy="548640"/>
          </a:xfrm>
          <a:prstGeom prst="rect">
            <a:avLst/>
          </a:prstGeom>
          <a:noFill/>
        </p:spPr>
        <p:txBody>
          <a:bodyPr wrap="square">
            <a:spAutoFit/>
          </a:bodyPr>
          <a:lstStyle/>
          <a:p>
            <a:pPr algn="ctr"/>
            <a:r>
              <a:rPr sz="1100" b="1">
                <a:solidFill>
                  <a:srgbClr val="4B0082"/>
                </a:solidFill>
              </a:rPr>
              <a:t>Structured Decision
+ Risk Level</a:t>
            </a:r>
          </a:p>
        </p:txBody>
      </p:sp>
      <p:sp>
        <p:nvSpPr>
          <p:cNvPr id="30" name="Rectangle 29"/>
          <p:cNvSpPr/>
          <p:nvPr/>
        </p:nvSpPr>
        <p:spPr>
          <a:xfrm>
            <a:off x="3200400" y="4160520"/>
            <a:ext cx="2377440" cy="685800"/>
          </a:xfrm>
          <a:prstGeom prst="rect">
            <a:avLst/>
          </a:prstGeom>
          <a:solidFill>
            <a:srgbClr val="F4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246120" y="4251959"/>
            <a:ext cx="2286000" cy="548640"/>
          </a:xfrm>
          <a:prstGeom prst="rect">
            <a:avLst/>
          </a:prstGeom>
          <a:noFill/>
        </p:spPr>
        <p:txBody>
          <a:bodyPr wrap="square">
            <a:spAutoFit/>
          </a:bodyPr>
          <a:lstStyle/>
          <a:p>
            <a:pPr algn="ctr"/>
            <a:r>
              <a:rPr sz="1100" b="1">
                <a:solidFill>
                  <a:srgbClr val="4B0082"/>
                </a:solidFill>
              </a:rPr>
              <a:t>Chain-of-Thought
Reasoning</a:t>
            </a:r>
          </a:p>
        </p:txBody>
      </p:sp>
      <p:sp>
        <p:nvSpPr>
          <p:cNvPr id="32" name="Rectangle 31"/>
          <p:cNvSpPr/>
          <p:nvPr/>
        </p:nvSpPr>
        <p:spPr>
          <a:xfrm>
            <a:off x="5943600" y="4160520"/>
            <a:ext cx="2377440" cy="685800"/>
          </a:xfrm>
          <a:prstGeom prst="rect">
            <a:avLst/>
          </a:prstGeom>
          <a:solidFill>
            <a:srgbClr val="F4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989320" y="4251959"/>
            <a:ext cx="2286000" cy="548640"/>
          </a:xfrm>
          <a:prstGeom prst="rect">
            <a:avLst/>
          </a:prstGeom>
          <a:noFill/>
        </p:spPr>
        <p:txBody>
          <a:bodyPr wrap="square">
            <a:spAutoFit/>
          </a:bodyPr>
          <a:lstStyle/>
          <a:p>
            <a:pPr algn="ctr"/>
            <a:r>
              <a:rPr sz="1100" b="1">
                <a:solidFill>
                  <a:srgbClr val="4B0082"/>
                </a:solidFill>
              </a:rPr>
              <a:t>Recommended
Actions</a:t>
            </a:r>
          </a:p>
        </p:txBody>
      </p:sp>
      <p:sp>
        <p:nvSpPr>
          <p:cNvPr id="34" name="Rectangle 33"/>
          <p:cNvSpPr/>
          <p:nvPr/>
        </p:nvSpPr>
        <p:spPr>
          <a:xfrm>
            <a:off x="8686800" y="4160520"/>
            <a:ext cx="2377440" cy="685800"/>
          </a:xfrm>
          <a:prstGeom prst="rect">
            <a:avLst/>
          </a:prstGeom>
          <a:solidFill>
            <a:srgbClr val="F4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732520" y="4251959"/>
            <a:ext cx="2286000" cy="548640"/>
          </a:xfrm>
          <a:prstGeom prst="rect">
            <a:avLst/>
          </a:prstGeom>
          <a:noFill/>
        </p:spPr>
        <p:txBody>
          <a:bodyPr wrap="square">
            <a:spAutoFit/>
          </a:bodyPr>
          <a:lstStyle/>
          <a:p>
            <a:pPr algn="ctr"/>
            <a:r>
              <a:rPr sz="1100" b="1">
                <a:solidFill>
                  <a:srgbClr val="4B0082"/>
                </a:solidFill>
              </a:rPr>
              <a:t>Evaluation
Scores (0-100)</a:t>
            </a:r>
          </a:p>
        </p:txBody>
      </p:sp>
      <p:sp>
        <p:nvSpPr>
          <p:cNvPr id="36" name="TextBox 35"/>
          <p:cNvSpPr txBox="1"/>
          <p:nvPr/>
        </p:nvSpPr>
        <p:spPr>
          <a:xfrm>
            <a:off x="320040" y="3890772"/>
            <a:ext cx="1828800" cy="228600"/>
          </a:xfrm>
          <a:prstGeom prst="rect">
            <a:avLst/>
          </a:prstGeom>
          <a:noFill/>
        </p:spPr>
        <p:txBody>
          <a:bodyPr wrap="square">
            <a:spAutoFit/>
          </a:bodyPr>
          <a:lstStyle/>
          <a:p>
            <a:pPr algn="l"/>
            <a:r>
              <a:rPr sz="1100" b="1" dirty="0">
                <a:solidFill>
                  <a:srgbClr val="666666"/>
                </a:solidFill>
              </a:rPr>
              <a:t>Output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4B0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2743200" cy="411480"/>
          </a:xfrm>
          <a:prstGeom prst="rect">
            <a:avLst/>
          </a:prstGeom>
          <a:noFill/>
        </p:spPr>
        <p:txBody>
          <a:bodyPr wrap="square">
            <a:spAutoFit/>
          </a:bodyPr>
          <a:lstStyle/>
          <a:p>
            <a:pPr algn="l"/>
            <a:r>
              <a:rPr sz="1300" b="1">
                <a:solidFill>
                  <a:srgbClr val="FFFFFF"/>
                </a:solidFill>
              </a:rPr>
              <a:t>COTIVITI</a:t>
            </a:r>
          </a:p>
        </p:txBody>
      </p:sp>
      <p:sp>
        <p:nvSpPr>
          <p:cNvPr id="4" name="TextBox 3"/>
          <p:cNvSpPr txBox="1"/>
          <p:nvPr/>
        </p:nvSpPr>
        <p:spPr>
          <a:xfrm>
            <a:off x="365760" y="457200"/>
            <a:ext cx="10972800" cy="548640"/>
          </a:xfrm>
          <a:prstGeom prst="rect">
            <a:avLst/>
          </a:prstGeom>
          <a:noFill/>
        </p:spPr>
        <p:txBody>
          <a:bodyPr wrap="square">
            <a:spAutoFit/>
          </a:bodyPr>
          <a:lstStyle/>
          <a:p>
            <a:pPr algn="l"/>
            <a:r>
              <a:rPr sz="2600" b="1">
                <a:solidFill>
                  <a:srgbClr val="FFFFFF"/>
                </a:solidFill>
              </a:rPr>
              <a:t>Hackathon POC — Key Features</a:t>
            </a:r>
          </a:p>
        </p:txBody>
      </p:sp>
      <p:sp>
        <p:nvSpPr>
          <p:cNvPr id="5" name="TextBox 4"/>
          <p:cNvSpPr txBox="1"/>
          <p:nvPr/>
        </p:nvSpPr>
        <p:spPr>
          <a:xfrm>
            <a:off x="365760" y="960120"/>
            <a:ext cx="10972800" cy="320040"/>
          </a:xfrm>
          <a:prstGeom prst="rect">
            <a:avLst/>
          </a:prstGeom>
          <a:noFill/>
        </p:spPr>
        <p:txBody>
          <a:bodyPr wrap="square">
            <a:spAutoFit/>
          </a:bodyPr>
          <a:lstStyle/>
          <a:p>
            <a:pPr algn="l"/>
            <a:r>
              <a:rPr sz="1300" b="0">
                <a:solidFill>
                  <a:srgbClr val="CCBBEE"/>
                </a:solidFill>
              </a:rPr>
              <a:t>Streamlit app | LangGraph | OpenAI | Cotiviti-branded UI</a:t>
            </a:r>
          </a:p>
        </p:txBody>
      </p:sp>
      <p:sp>
        <p:nvSpPr>
          <p:cNvPr id="7" name="Rectangle 6"/>
          <p:cNvSpPr/>
          <p:nvPr/>
        </p:nvSpPr>
        <p:spPr>
          <a:xfrm>
            <a:off x="365760" y="1600200"/>
            <a:ext cx="54864" cy="548640"/>
          </a:xfrm>
          <a:prstGeom prst="rect">
            <a:avLst/>
          </a:prstGeom>
          <a:solidFill>
            <a:srgbClr val="D91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600200"/>
            <a:ext cx="10972800" cy="274320"/>
          </a:xfrm>
          <a:prstGeom prst="rect">
            <a:avLst/>
          </a:prstGeom>
          <a:noFill/>
        </p:spPr>
        <p:txBody>
          <a:bodyPr wrap="square">
            <a:spAutoFit/>
          </a:bodyPr>
          <a:lstStyle/>
          <a:p>
            <a:pPr algn="l"/>
            <a:r>
              <a:rPr sz="1400" b="1">
                <a:solidFill>
                  <a:srgbClr val="4B0082"/>
                </a:solidFill>
              </a:rPr>
              <a:t>Input Validation Gate</a:t>
            </a:r>
          </a:p>
        </p:txBody>
      </p:sp>
      <p:sp>
        <p:nvSpPr>
          <p:cNvPr id="9" name="TextBox 8"/>
          <p:cNvSpPr txBox="1"/>
          <p:nvPr/>
        </p:nvSpPr>
        <p:spPr>
          <a:xfrm>
            <a:off x="548640" y="1874519"/>
            <a:ext cx="11155680" cy="276999"/>
          </a:xfrm>
          <a:prstGeom prst="rect">
            <a:avLst/>
          </a:prstGeom>
          <a:noFill/>
        </p:spPr>
        <p:txBody>
          <a:bodyPr wrap="square">
            <a:spAutoFit/>
          </a:bodyPr>
          <a:lstStyle/>
          <a:p>
            <a:pPr algn="l"/>
            <a:r>
              <a:rPr sz="1200" b="0" dirty="0">
                <a:solidFill>
                  <a:srgbClr val="666666"/>
                </a:solidFill>
              </a:rPr>
              <a:t>Rejects non-healthcare queries before they reach the pipeline </a:t>
            </a:r>
            <a:r>
              <a:rPr lang="en-US" sz="1200" b="0" dirty="0">
                <a:solidFill>
                  <a:srgbClr val="666666"/>
                </a:solidFill>
              </a:rPr>
              <a:t>-</a:t>
            </a:r>
            <a:r>
              <a:rPr sz="1200" b="0" dirty="0">
                <a:solidFill>
                  <a:srgbClr val="666666"/>
                </a:solidFill>
              </a:rPr>
              <a:t> demonstrates system boundary thinking and production-readiness.</a:t>
            </a:r>
          </a:p>
        </p:txBody>
      </p:sp>
      <p:sp>
        <p:nvSpPr>
          <p:cNvPr id="10" name="Rectangle 9"/>
          <p:cNvSpPr/>
          <p:nvPr/>
        </p:nvSpPr>
        <p:spPr>
          <a:xfrm>
            <a:off x="365760" y="2350008"/>
            <a:ext cx="54864" cy="548640"/>
          </a:xfrm>
          <a:prstGeom prst="rect">
            <a:avLst/>
          </a:prstGeom>
          <a:solidFill>
            <a:srgbClr val="D91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350008"/>
            <a:ext cx="10972800" cy="274320"/>
          </a:xfrm>
          <a:prstGeom prst="rect">
            <a:avLst/>
          </a:prstGeom>
          <a:noFill/>
        </p:spPr>
        <p:txBody>
          <a:bodyPr wrap="square">
            <a:spAutoFit/>
          </a:bodyPr>
          <a:lstStyle/>
          <a:p>
            <a:pPr algn="l"/>
            <a:r>
              <a:rPr sz="1400" b="1">
                <a:solidFill>
                  <a:srgbClr val="4B0082"/>
                </a:solidFill>
              </a:rPr>
              <a:t>Multi-Agent Routing</a:t>
            </a:r>
          </a:p>
        </p:txBody>
      </p:sp>
      <p:sp>
        <p:nvSpPr>
          <p:cNvPr id="12" name="TextBox 11"/>
          <p:cNvSpPr txBox="1"/>
          <p:nvPr/>
        </p:nvSpPr>
        <p:spPr>
          <a:xfrm>
            <a:off x="548640" y="2624327"/>
            <a:ext cx="11155680" cy="320040"/>
          </a:xfrm>
          <a:prstGeom prst="rect">
            <a:avLst/>
          </a:prstGeom>
          <a:noFill/>
        </p:spPr>
        <p:txBody>
          <a:bodyPr wrap="square">
            <a:spAutoFit/>
          </a:bodyPr>
          <a:lstStyle/>
          <a:p>
            <a:pPr algn="l"/>
            <a:r>
              <a:rPr sz="1200" b="0">
                <a:solidFill>
                  <a:srgbClr val="666666"/>
                </a:solidFill>
              </a:rPr>
              <a:t>LangGraph state machine classifies and routes queries to specialized Treatment, Payment, or Operations domain agents.</a:t>
            </a:r>
          </a:p>
        </p:txBody>
      </p:sp>
      <p:sp>
        <p:nvSpPr>
          <p:cNvPr id="13" name="Rectangle 12"/>
          <p:cNvSpPr/>
          <p:nvPr/>
        </p:nvSpPr>
        <p:spPr>
          <a:xfrm>
            <a:off x="365760" y="3099815"/>
            <a:ext cx="54864" cy="548640"/>
          </a:xfrm>
          <a:prstGeom prst="rect">
            <a:avLst/>
          </a:prstGeom>
          <a:solidFill>
            <a:srgbClr val="D91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3099815"/>
            <a:ext cx="10972800" cy="274320"/>
          </a:xfrm>
          <a:prstGeom prst="rect">
            <a:avLst/>
          </a:prstGeom>
          <a:noFill/>
        </p:spPr>
        <p:txBody>
          <a:bodyPr wrap="square">
            <a:spAutoFit/>
          </a:bodyPr>
          <a:lstStyle/>
          <a:p>
            <a:pPr algn="l"/>
            <a:r>
              <a:rPr sz="1400" b="1">
                <a:solidFill>
                  <a:srgbClr val="4B0082"/>
                </a:solidFill>
              </a:rPr>
              <a:t>Chain-of-Thought Reasoning</a:t>
            </a:r>
          </a:p>
        </p:txBody>
      </p:sp>
      <p:sp>
        <p:nvSpPr>
          <p:cNvPr id="15" name="TextBox 14"/>
          <p:cNvSpPr txBox="1"/>
          <p:nvPr/>
        </p:nvSpPr>
        <p:spPr>
          <a:xfrm>
            <a:off x="548640" y="3374135"/>
            <a:ext cx="11155680" cy="276999"/>
          </a:xfrm>
          <a:prstGeom prst="rect">
            <a:avLst/>
          </a:prstGeom>
          <a:noFill/>
        </p:spPr>
        <p:txBody>
          <a:bodyPr wrap="square">
            <a:spAutoFit/>
          </a:bodyPr>
          <a:lstStyle/>
          <a:p>
            <a:pPr algn="l"/>
            <a:r>
              <a:rPr sz="1200" b="0" dirty="0">
                <a:solidFill>
                  <a:srgbClr val="666666"/>
                </a:solidFill>
              </a:rPr>
              <a:t>Each domain agent reasons step by step </a:t>
            </a:r>
            <a:r>
              <a:rPr lang="en-US" sz="1200" b="0" dirty="0">
                <a:solidFill>
                  <a:srgbClr val="666666"/>
                </a:solidFill>
              </a:rPr>
              <a:t>-</a:t>
            </a:r>
            <a:r>
              <a:rPr sz="1200" b="0" dirty="0">
                <a:solidFill>
                  <a:srgbClr val="666666"/>
                </a:solidFill>
              </a:rPr>
              <a:t> applying CMS guidelines, clinical evidence, or compliance standards before reaching a decision.</a:t>
            </a:r>
          </a:p>
        </p:txBody>
      </p:sp>
      <p:sp>
        <p:nvSpPr>
          <p:cNvPr id="16" name="Rectangle 15"/>
          <p:cNvSpPr/>
          <p:nvPr/>
        </p:nvSpPr>
        <p:spPr>
          <a:xfrm>
            <a:off x="365760" y="3849624"/>
            <a:ext cx="54864" cy="548640"/>
          </a:xfrm>
          <a:prstGeom prst="rect">
            <a:avLst/>
          </a:prstGeom>
          <a:solidFill>
            <a:srgbClr val="D91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3849624"/>
            <a:ext cx="10972800" cy="274320"/>
          </a:xfrm>
          <a:prstGeom prst="rect">
            <a:avLst/>
          </a:prstGeom>
          <a:noFill/>
        </p:spPr>
        <p:txBody>
          <a:bodyPr wrap="square">
            <a:spAutoFit/>
          </a:bodyPr>
          <a:lstStyle/>
          <a:p>
            <a:pPr algn="l"/>
            <a:r>
              <a:rPr sz="1400" b="1">
                <a:solidFill>
                  <a:srgbClr val="4B0082"/>
                </a:solidFill>
              </a:rPr>
              <a:t>Risk Classification</a:t>
            </a:r>
          </a:p>
        </p:txBody>
      </p:sp>
      <p:sp>
        <p:nvSpPr>
          <p:cNvPr id="18" name="TextBox 17"/>
          <p:cNvSpPr txBox="1"/>
          <p:nvPr/>
        </p:nvSpPr>
        <p:spPr>
          <a:xfrm>
            <a:off x="548640" y="4123944"/>
            <a:ext cx="11155680" cy="320040"/>
          </a:xfrm>
          <a:prstGeom prst="rect">
            <a:avLst/>
          </a:prstGeom>
          <a:noFill/>
        </p:spPr>
        <p:txBody>
          <a:bodyPr wrap="square">
            <a:spAutoFit/>
          </a:bodyPr>
          <a:lstStyle/>
          <a:p>
            <a:pPr algn="l"/>
            <a:r>
              <a:rPr sz="1200" b="0">
                <a:solidFill>
                  <a:srgbClr val="666666"/>
                </a:solidFill>
              </a:rPr>
              <a:t>Structured output returns low / medium / high risk with domain-specific criteria for each level, not a generic label.</a:t>
            </a:r>
          </a:p>
        </p:txBody>
      </p:sp>
      <p:sp>
        <p:nvSpPr>
          <p:cNvPr id="19" name="Rectangle 18"/>
          <p:cNvSpPr/>
          <p:nvPr/>
        </p:nvSpPr>
        <p:spPr>
          <a:xfrm>
            <a:off x="365760" y="4599432"/>
            <a:ext cx="54864" cy="548640"/>
          </a:xfrm>
          <a:prstGeom prst="rect">
            <a:avLst/>
          </a:prstGeom>
          <a:solidFill>
            <a:srgbClr val="D91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4599432"/>
            <a:ext cx="10972800" cy="274320"/>
          </a:xfrm>
          <a:prstGeom prst="rect">
            <a:avLst/>
          </a:prstGeom>
          <a:noFill/>
        </p:spPr>
        <p:txBody>
          <a:bodyPr wrap="square">
            <a:spAutoFit/>
          </a:bodyPr>
          <a:lstStyle/>
          <a:p>
            <a:pPr algn="l"/>
            <a:r>
              <a:rPr sz="1400" b="1">
                <a:solidFill>
                  <a:srgbClr val="4B0082"/>
                </a:solidFill>
              </a:rPr>
              <a:t>LLM-as-Judge Evaluation</a:t>
            </a:r>
          </a:p>
        </p:txBody>
      </p:sp>
      <p:sp>
        <p:nvSpPr>
          <p:cNvPr id="21" name="TextBox 20"/>
          <p:cNvSpPr txBox="1"/>
          <p:nvPr/>
        </p:nvSpPr>
        <p:spPr>
          <a:xfrm>
            <a:off x="548640" y="4873752"/>
            <a:ext cx="11155680" cy="320040"/>
          </a:xfrm>
          <a:prstGeom prst="rect">
            <a:avLst/>
          </a:prstGeom>
          <a:noFill/>
        </p:spPr>
        <p:txBody>
          <a:bodyPr wrap="square">
            <a:spAutoFit/>
          </a:bodyPr>
          <a:lstStyle/>
          <a:p>
            <a:pPr algn="l"/>
            <a:r>
              <a:rPr sz="1200" b="0">
                <a:solidFill>
                  <a:srgbClr val="666666"/>
                </a:solidFill>
              </a:rPr>
              <a:t>gpt-5-nano independently scores each decision on Domain Accuracy, Regulatory Alignment, and Completeness (0-100).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4B0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109728"/>
            <a:ext cx="2743200" cy="411480"/>
          </a:xfrm>
          <a:prstGeom prst="rect">
            <a:avLst/>
          </a:prstGeom>
          <a:noFill/>
        </p:spPr>
        <p:txBody>
          <a:bodyPr wrap="square">
            <a:spAutoFit/>
          </a:bodyPr>
          <a:lstStyle/>
          <a:p>
            <a:pPr algn="l"/>
            <a:r>
              <a:rPr sz="1300" b="1">
                <a:solidFill>
                  <a:srgbClr val="FFFFFF"/>
                </a:solidFill>
              </a:rPr>
              <a:t>COTIVITI</a:t>
            </a:r>
          </a:p>
        </p:txBody>
      </p:sp>
      <p:sp>
        <p:nvSpPr>
          <p:cNvPr id="4" name="TextBox 3"/>
          <p:cNvSpPr txBox="1"/>
          <p:nvPr/>
        </p:nvSpPr>
        <p:spPr>
          <a:xfrm>
            <a:off x="365760" y="457200"/>
            <a:ext cx="10972800" cy="548640"/>
          </a:xfrm>
          <a:prstGeom prst="rect">
            <a:avLst/>
          </a:prstGeom>
          <a:noFill/>
        </p:spPr>
        <p:txBody>
          <a:bodyPr wrap="square">
            <a:spAutoFit/>
          </a:bodyPr>
          <a:lstStyle/>
          <a:p>
            <a:pPr algn="l"/>
            <a:r>
              <a:rPr sz="2600" b="1">
                <a:solidFill>
                  <a:srgbClr val="FFFFFF"/>
                </a:solidFill>
              </a:rPr>
              <a:t>Technology Stack</a:t>
            </a:r>
          </a:p>
        </p:txBody>
      </p:sp>
      <p:sp>
        <p:nvSpPr>
          <p:cNvPr id="5" name="Rectangle 4"/>
          <p:cNvSpPr/>
          <p:nvPr/>
        </p:nvSpPr>
        <p:spPr>
          <a:xfrm>
            <a:off x="365760" y="1417320"/>
            <a:ext cx="1097280" cy="36576"/>
          </a:xfrm>
          <a:prstGeom prst="rect">
            <a:avLst/>
          </a:prstGeom>
          <a:solidFill>
            <a:srgbClr val="D91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600200"/>
            <a:ext cx="11430000" cy="347472"/>
          </a:xfrm>
          <a:prstGeom prst="rect">
            <a:avLst/>
          </a:prstGeom>
          <a:solidFill>
            <a:srgbClr val="4B0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12" y="1636776"/>
            <a:ext cx="3383279" cy="292608"/>
          </a:xfrm>
          <a:prstGeom prst="rect">
            <a:avLst/>
          </a:prstGeom>
          <a:noFill/>
        </p:spPr>
        <p:txBody>
          <a:bodyPr wrap="square">
            <a:spAutoFit/>
          </a:bodyPr>
          <a:lstStyle/>
          <a:p>
            <a:pPr algn="l"/>
            <a:r>
              <a:rPr sz="1200" b="1">
                <a:solidFill>
                  <a:srgbClr val="FFFFFF"/>
                </a:solidFill>
              </a:rPr>
              <a:t>Component</a:t>
            </a:r>
          </a:p>
        </p:txBody>
      </p:sp>
      <p:sp>
        <p:nvSpPr>
          <p:cNvPr id="8" name="TextBox 7"/>
          <p:cNvSpPr txBox="1"/>
          <p:nvPr/>
        </p:nvSpPr>
        <p:spPr>
          <a:xfrm>
            <a:off x="4005072" y="1636776"/>
            <a:ext cx="2468879" cy="292608"/>
          </a:xfrm>
          <a:prstGeom prst="rect">
            <a:avLst/>
          </a:prstGeom>
          <a:noFill/>
        </p:spPr>
        <p:txBody>
          <a:bodyPr wrap="square">
            <a:spAutoFit/>
          </a:bodyPr>
          <a:lstStyle/>
          <a:p>
            <a:pPr algn="l"/>
            <a:r>
              <a:rPr sz="1200" b="1">
                <a:solidFill>
                  <a:srgbClr val="FFFFFF"/>
                </a:solidFill>
              </a:rPr>
              <a:t>Technology</a:t>
            </a:r>
          </a:p>
        </p:txBody>
      </p:sp>
      <p:sp>
        <p:nvSpPr>
          <p:cNvPr id="9" name="TextBox 8"/>
          <p:cNvSpPr txBox="1"/>
          <p:nvPr/>
        </p:nvSpPr>
        <p:spPr>
          <a:xfrm>
            <a:off x="6656832" y="1636776"/>
            <a:ext cx="5669280" cy="292608"/>
          </a:xfrm>
          <a:prstGeom prst="rect">
            <a:avLst/>
          </a:prstGeom>
          <a:noFill/>
        </p:spPr>
        <p:txBody>
          <a:bodyPr wrap="square">
            <a:spAutoFit/>
          </a:bodyPr>
          <a:lstStyle/>
          <a:p>
            <a:pPr algn="l"/>
            <a:r>
              <a:rPr sz="1200" b="1">
                <a:solidFill>
                  <a:srgbClr val="FFFFFF"/>
                </a:solidFill>
              </a:rPr>
              <a:t>Purpose</a:t>
            </a:r>
          </a:p>
        </p:txBody>
      </p:sp>
      <p:sp>
        <p:nvSpPr>
          <p:cNvPr id="10" name="Rectangle 9"/>
          <p:cNvSpPr/>
          <p:nvPr/>
        </p:nvSpPr>
        <p:spPr>
          <a:xfrm>
            <a:off x="365760" y="1965960"/>
            <a:ext cx="114300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 y="2002536"/>
            <a:ext cx="3383279" cy="292608"/>
          </a:xfrm>
          <a:prstGeom prst="rect">
            <a:avLst/>
          </a:prstGeom>
          <a:noFill/>
        </p:spPr>
        <p:txBody>
          <a:bodyPr wrap="square">
            <a:spAutoFit/>
          </a:bodyPr>
          <a:lstStyle/>
          <a:p>
            <a:pPr algn="l"/>
            <a:r>
              <a:rPr sz="1200" b="0">
                <a:solidFill>
                  <a:srgbClr val="1A1A1A"/>
                </a:solidFill>
              </a:rPr>
              <a:t>Agent Orchestration</a:t>
            </a:r>
          </a:p>
        </p:txBody>
      </p:sp>
      <p:sp>
        <p:nvSpPr>
          <p:cNvPr id="12" name="TextBox 11"/>
          <p:cNvSpPr txBox="1"/>
          <p:nvPr/>
        </p:nvSpPr>
        <p:spPr>
          <a:xfrm>
            <a:off x="4005072" y="2002536"/>
            <a:ext cx="2468879" cy="292608"/>
          </a:xfrm>
          <a:prstGeom prst="rect">
            <a:avLst/>
          </a:prstGeom>
          <a:noFill/>
        </p:spPr>
        <p:txBody>
          <a:bodyPr wrap="square">
            <a:spAutoFit/>
          </a:bodyPr>
          <a:lstStyle/>
          <a:p>
            <a:pPr algn="l"/>
            <a:r>
              <a:rPr sz="1200" b="0">
                <a:solidFill>
                  <a:srgbClr val="1A1A1A"/>
                </a:solidFill>
              </a:rPr>
              <a:t>LangGraph</a:t>
            </a:r>
          </a:p>
        </p:txBody>
      </p:sp>
      <p:sp>
        <p:nvSpPr>
          <p:cNvPr id="13" name="TextBox 12"/>
          <p:cNvSpPr txBox="1"/>
          <p:nvPr/>
        </p:nvSpPr>
        <p:spPr>
          <a:xfrm>
            <a:off x="6656832" y="2002536"/>
            <a:ext cx="5669280" cy="292608"/>
          </a:xfrm>
          <a:prstGeom prst="rect">
            <a:avLst/>
          </a:prstGeom>
          <a:noFill/>
        </p:spPr>
        <p:txBody>
          <a:bodyPr wrap="square">
            <a:spAutoFit/>
          </a:bodyPr>
          <a:lstStyle/>
          <a:p>
            <a:pPr algn="l"/>
            <a:r>
              <a:rPr sz="1200" b="0">
                <a:solidFill>
                  <a:srgbClr val="1A1A1A"/>
                </a:solidFill>
              </a:rPr>
              <a:t>State machine for multi-agent routing workflow</a:t>
            </a:r>
          </a:p>
        </p:txBody>
      </p:sp>
      <p:sp>
        <p:nvSpPr>
          <p:cNvPr id="14" name="Rectangle 13"/>
          <p:cNvSpPr/>
          <p:nvPr/>
        </p:nvSpPr>
        <p:spPr>
          <a:xfrm>
            <a:off x="365760" y="2331720"/>
            <a:ext cx="11430000" cy="347472"/>
          </a:xfrm>
          <a:prstGeom prst="rect">
            <a:avLst/>
          </a:prstGeom>
          <a:solidFill>
            <a:srgbClr val="F4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8912" y="2368296"/>
            <a:ext cx="3383279" cy="292608"/>
          </a:xfrm>
          <a:prstGeom prst="rect">
            <a:avLst/>
          </a:prstGeom>
          <a:noFill/>
        </p:spPr>
        <p:txBody>
          <a:bodyPr wrap="square">
            <a:spAutoFit/>
          </a:bodyPr>
          <a:lstStyle/>
          <a:p>
            <a:pPr algn="l"/>
            <a:r>
              <a:rPr sz="1200" b="0">
                <a:solidFill>
                  <a:srgbClr val="1A1A1A"/>
                </a:solidFill>
              </a:rPr>
              <a:t>LLM Framework</a:t>
            </a:r>
          </a:p>
        </p:txBody>
      </p:sp>
      <p:sp>
        <p:nvSpPr>
          <p:cNvPr id="16" name="TextBox 15"/>
          <p:cNvSpPr txBox="1"/>
          <p:nvPr/>
        </p:nvSpPr>
        <p:spPr>
          <a:xfrm>
            <a:off x="4005072" y="2368296"/>
            <a:ext cx="2468879" cy="292608"/>
          </a:xfrm>
          <a:prstGeom prst="rect">
            <a:avLst/>
          </a:prstGeom>
          <a:noFill/>
        </p:spPr>
        <p:txBody>
          <a:bodyPr wrap="square">
            <a:spAutoFit/>
          </a:bodyPr>
          <a:lstStyle/>
          <a:p>
            <a:pPr algn="l"/>
            <a:r>
              <a:rPr sz="1200" b="0">
                <a:solidFill>
                  <a:srgbClr val="1A1A1A"/>
                </a:solidFill>
              </a:rPr>
              <a:t>LangChain</a:t>
            </a:r>
          </a:p>
        </p:txBody>
      </p:sp>
      <p:sp>
        <p:nvSpPr>
          <p:cNvPr id="17" name="TextBox 16"/>
          <p:cNvSpPr txBox="1"/>
          <p:nvPr/>
        </p:nvSpPr>
        <p:spPr>
          <a:xfrm>
            <a:off x="6656832" y="2368296"/>
            <a:ext cx="5669280" cy="292608"/>
          </a:xfrm>
          <a:prstGeom prst="rect">
            <a:avLst/>
          </a:prstGeom>
          <a:noFill/>
        </p:spPr>
        <p:txBody>
          <a:bodyPr wrap="square">
            <a:spAutoFit/>
          </a:bodyPr>
          <a:lstStyle/>
          <a:p>
            <a:pPr algn="l"/>
            <a:r>
              <a:rPr sz="1200" b="0">
                <a:solidFill>
                  <a:srgbClr val="1A1A1A"/>
                </a:solidFill>
              </a:rPr>
              <a:t>Prompt templates, structured output, chains</a:t>
            </a:r>
          </a:p>
        </p:txBody>
      </p:sp>
      <p:sp>
        <p:nvSpPr>
          <p:cNvPr id="18" name="Rectangle 17"/>
          <p:cNvSpPr/>
          <p:nvPr/>
        </p:nvSpPr>
        <p:spPr>
          <a:xfrm>
            <a:off x="365760" y="2697479"/>
            <a:ext cx="114300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8912" y="2734056"/>
            <a:ext cx="3383279" cy="292608"/>
          </a:xfrm>
          <a:prstGeom prst="rect">
            <a:avLst/>
          </a:prstGeom>
          <a:noFill/>
        </p:spPr>
        <p:txBody>
          <a:bodyPr wrap="square">
            <a:spAutoFit/>
          </a:bodyPr>
          <a:lstStyle/>
          <a:p>
            <a:pPr algn="l"/>
            <a:r>
              <a:rPr sz="1200" b="0">
                <a:solidFill>
                  <a:srgbClr val="1A1A1A"/>
                </a:solidFill>
              </a:rPr>
              <a:t>Generation Model</a:t>
            </a:r>
          </a:p>
        </p:txBody>
      </p:sp>
      <p:sp>
        <p:nvSpPr>
          <p:cNvPr id="20" name="TextBox 19"/>
          <p:cNvSpPr txBox="1"/>
          <p:nvPr/>
        </p:nvSpPr>
        <p:spPr>
          <a:xfrm>
            <a:off x="4005072" y="2734056"/>
            <a:ext cx="2468879" cy="292608"/>
          </a:xfrm>
          <a:prstGeom prst="rect">
            <a:avLst/>
          </a:prstGeom>
          <a:noFill/>
        </p:spPr>
        <p:txBody>
          <a:bodyPr wrap="square">
            <a:spAutoFit/>
          </a:bodyPr>
          <a:lstStyle/>
          <a:p>
            <a:pPr algn="l"/>
            <a:r>
              <a:rPr sz="1200" b="0">
                <a:solidFill>
                  <a:srgbClr val="1A1A1A"/>
                </a:solidFill>
              </a:rPr>
              <a:t>gpt-4o-mini</a:t>
            </a:r>
          </a:p>
        </p:txBody>
      </p:sp>
      <p:sp>
        <p:nvSpPr>
          <p:cNvPr id="21" name="TextBox 20"/>
          <p:cNvSpPr txBox="1"/>
          <p:nvPr/>
        </p:nvSpPr>
        <p:spPr>
          <a:xfrm>
            <a:off x="6656832" y="2734056"/>
            <a:ext cx="5669280" cy="292608"/>
          </a:xfrm>
          <a:prstGeom prst="rect">
            <a:avLst/>
          </a:prstGeom>
          <a:noFill/>
        </p:spPr>
        <p:txBody>
          <a:bodyPr wrap="square">
            <a:spAutoFit/>
          </a:bodyPr>
          <a:lstStyle/>
          <a:p>
            <a:pPr algn="l"/>
            <a:r>
              <a:rPr sz="1200" b="0">
                <a:solidFill>
                  <a:srgbClr val="1A1A1A"/>
                </a:solidFill>
              </a:rPr>
              <a:t>Routing, domain reasoning, validation</a:t>
            </a:r>
          </a:p>
        </p:txBody>
      </p:sp>
      <p:sp>
        <p:nvSpPr>
          <p:cNvPr id="22" name="Rectangle 21"/>
          <p:cNvSpPr/>
          <p:nvPr/>
        </p:nvSpPr>
        <p:spPr>
          <a:xfrm>
            <a:off x="365760" y="3063239"/>
            <a:ext cx="11430000" cy="347472"/>
          </a:xfrm>
          <a:prstGeom prst="rect">
            <a:avLst/>
          </a:prstGeom>
          <a:solidFill>
            <a:srgbClr val="F4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38912" y="3099815"/>
            <a:ext cx="3383279" cy="292608"/>
          </a:xfrm>
          <a:prstGeom prst="rect">
            <a:avLst/>
          </a:prstGeom>
          <a:noFill/>
        </p:spPr>
        <p:txBody>
          <a:bodyPr wrap="square">
            <a:spAutoFit/>
          </a:bodyPr>
          <a:lstStyle/>
          <a:p>
            <a:pPr algn="l"/>
            <a:r>
              <a:rPr sz="1200" b="0">
                <a:solidFill>
                  <a:srgbClr val="1A1A1A"/>
                </a:solidFill>
              </a:rPr>
              <a:t>Evaluation Model</a:t>
            </a:r>
          </a:p>
        </p:txBody>
      </p:sp>
      <p:sp>
        <p:nvSpPr>
          <p:cNvPr id="24" name="TextBox 23"/>
          <p:cNvSpPr txBox="1"/>
          <p:nvPr/>
        </p:nvSpPr>
        <p:spPr>
          <a:xfrm>
            <a:off x="4005072" y="3099815"/>
            <a:ext cx="2468879" cy="292608"/>
          </a:xfrm>
          <a:prstGeom prst="rect">
            <a:avLst/>
          </a:prstGeom>
          <a:noFill/>
        </p:spPr>
        <p:txBody>
          <a:bodyPr wrap="square">
            <a:spAutoFit/>
          </a:bodyPr>
          <a:lstStyle/>
          <a:p>
            <a:pPr algn="l"/>
            <a:r>
              <a:rPr sz="1200" b="0">
                <a:solidFill>
                  <a:srgbClr val="1A1A1A"/>
                </a:solidFill>
              </a:rPr>
              <a:t>gpt-5-nano</a:t>
            </a:r>
          </a:p>
        </p:txBody>
      </p:sp>
      <p:sp>
        <p:nvSpPr>
          <p:cNvPr id="25" name="TextBox 24"/>
          <p:cNvSpPr txBox="1"/>
          <p:nvPr/>
        </p:nvSpPr>
        <p:spPr>
          <a:xfrm>
            <a:off x="6656832" y="3099815"/>
            <a:ext cx="5669280" cy="292608"/>
          </a:xfrm>
          <a:prstGeom prst="rect">
            <a:avLst/>
          </a:prstGeom>
          <a:noFill/>
        </p:spPr>
        <p:txBody>
          <a:bodyPr wrap="square">
            <a:spAutoFit/>
          </a:bodyPr>
          <a:lstStyle/>
          <a:p>
            <a:pPr algn="l"/>
            <a:r>
              <a:rPr sz="1200" b="0">
                <a:solidFill>
                  <a:srgbClr val="1A1A1A"/>
                </a:solidFill>
              </a:rPr>
              <a:t>LLM-as-Judge independent scoring</a:t>
            </a:r>
          </a:p>
        </p:txBody>
      </p:sp>
      <p:sp>
        <p:nvSpPr>
          <p:cNvPr id="26" name="Rectangle 25"/>
          <p:cNvSpPr/>
          <p:nvPr/>
        </p:nvSpPr>
        <p:spPr>
          <a:xfrm>
            <a:off x="365760" y="3428999"/>
            <a:ext cx="114300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8912" y="3465575"/>
            <a:ext cx="3383279" cy="292608"/>
          </a:xfrm>
          <a:prstGeom prst="rect">
            <a:avLst/>
          </a:prstGeom>
          <a:noFill/>
        </p:spPr>
        <p:txBody>
          <a:bodyPr wrap="square">
            <a:spAutoFit/>
          </a:bodyPr>
          <a:lstStyle/>
          <a:p>
            <a:pPr algn="l"/>
            <a:r>
              <a:rPr sz="1200" b="0">
                <a:solidFill>
                  <a:srgbClr val="1A1A1A"/>
                </a:solidFill>
              </a:rPr>
              <a:t>Structured Output</a:t>
            </a:r>
          </a:p>
        </p:txBody>
      </p:sp>
      <p:sp>
        <p:nvSpPr>
          <p:cNvPr id="28" name="TextBox 27"/>
          <p:cNvSpPr txBox="1"/>
          <p:nvPr/>
        </p:nvSpPr>
        <p:spPr>
          <a:xfrm>
            <a:off x="4005072" y="3465575"/>
            <a:ext cx="2468879" cy="292608"/>
          </a:xfrm>
          <a:prstGeom prst="rect">
            <a:avLst/>
          </a:prstGeom>
          <a:noFill/>
        </p:spPr>
        <p:txBody>
          <a:bodyPr wrap="square">
            <a:spAutoFit/>
          </a:bodyPr>
          <a:lstStyle/>
          <a:p>
            <a:pPr algn="l"/>
            <a:r>
              <a:rPr sz="1200" b="0">
                <a:solidFill>
                  <a:srgbClr val="1A1A1A"/>
                </a:solidFill>
              </a:rPr>
              <a:t>Pydantic</a:t>
            </a:r>
          </a:p>
        </p:txBody>
      </p:sp>
      <p:sp>
        <p:nvSpPr>
          <p:cNvPr id="29" name="TextBox 28"/>
          <p:cNvSpPr txBox="1"/>
          <p:nvPr/>
        </p:nvSpPr>
        <p:spPr>
          <a:xfrm>
            <a:off x="6656832" y="3465575"/>
            <a:ext cx="5669280" cy="292608"/>
          </a:xfrm>
          <a:prstGeom prst="rect">
            <a:avLst/>
          </a:prstGeom>
          <a:noFill/>
        </p:spPr>
        <p:txBody>
          <a:bodyPr wrap="square">
            <a:spAutoFit/>
          </a:bodyPr>
          <a:lstStyle/>
          <a:p>
            <a:pPr algn="l"/>
            <a:r>
              <a:rPr sz="1200" b="0">
                <a:solidFill>
                  <a:srgbClr val="1A1A1A"/>
                </a:solidFill>
              </a:rPr>
              <a:t>Type-safe agent output schemas</a:t>
            </a:r>
          </a:p>
        </p:txBody>
      </p:sp>
      <p:sp>
        <p:nvSpPr>
          <p:cNvPr id="30" name="Rectangle 29"/>
          <p:cNvSpPr/>
          <p:nvPr/>
        </p:nvSpPr>
        <p:spPr>
          <a:xfrm>
            <a:off x="365760" y="3794759"/>
            <a:ext cx="11430000" cy="347472"/>
          </a:xfrm>
          <a:prstGeom prst="rect">
            <a:avLst/>
          </a:prstGeom>
          <a:solidFill>
            <a:srgbClr val="F4F0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38912" y="3831335"/>
            <a:ext cx="3383279" cy="292608"/>
          </a:xfrm>
          <a:prstGeom prst="rect">
            <a:avLst/>
          </a:prstGeom>
          <a:noFill/>
        </p:spPr>
        <p:txBody>
          <a:bodyPr wrap="square">
            <a:spAutoFit/>
          </a:bodyPr>
          <a:lstStyle/>
          <a:p>
            <a:pPr algn="l"/>
            <a:r>
              <a:rPr sz="1200" b="0">
                <a:solidFill>
                  <a:srgbClr val="1A1A1A"/>
                </a:solidFill>
              </a:rPr>
              <a:t>UI</a:t>
            </a:r>
          </a:p>
        </p:txBody>
      </p:sp>
      <p:sp>
        <p:nvSpPr>
          <p:cNvPr id="32" name="TextBox 31"/>
          <p:cNvSpPr txBox="1"/>
          <p:nvPr/>
        </p:nvSpPr>
        <p:spPr>
          <a:xfrm>
            <a:off x="4005072" y="3831335"/>
            <a:ext cx="2468879" cy="292608"/>
          </a:xfrm>
          <a:prstGeom prst="rect">
            <a:avLst/>
          </a:prstGeom>
          <a:noFill/>
        </p:spPr>
        <p:txBody>
          <a:bodyPr wrap="square">
            <a:spAutoFit/>
          </a:bodyPr>
          <a:lstStyle/>
          <a:p>
            <a:pPr algn="l"/>
            <a:r>
              <a:rPr sz="1200" b="0">
                <a:solidFill>
                  <a:srgbClr val="1A1A1A"/>
                </a:solidFill>
              </a:rPr>
              <a:t>Streamlit</a:t>
            </a:r>
          </a:p>
        </p:txBody>
      </p:sp>
      <p:sp>
        <p:nvSpPr>
          <p:cNvPr id="33" name="TextBox 32"/>
          <p:cNvSpPr txBox="1"/>
          <p:nvPr/>
        </p:nvSpPr>
        <p:spPr>
          <a:xfrm>
            <a:off x="6656832" y="3831335"/>
            <a:ext cx="5669280" cy="292608"/>
          </a:xfrm>
          <a:prstGeom prst="rect">
            <a:avLst/>
          </a:prstGeom>
          <a:noFill/>
        </p:spPr>
        <p:txBody>
          <a:bodyPr wrap="square">
            <a:spAutoFit/>
          </a:bodyPr>
          <a:lstStyle/>
          <a:p>
            <a:pPr algn="l"/>
            <a:r>
              <a:rPr sz="1200" b="0">
                <a:solidFill>
                  <a:srgbClr val="1A1A1A"/>
                </a:solidFill>
              </a:rPr>
              <a:t>Interactive web interface</a:t>
            </a:r>
          </a:p>
        </p:txBody>
      </p:sp>
      <p:sp>
        <p:nvSpPr>
          <p:cNvPr id="34" name="Rectangle 33"/>
          <p:cNvSpPr/>
          <p:nvPr/>
        </p:nvSpPr>
        <p:spPr>
          <a:xfrm>
            <a:off x="365760" y="4160520"/>
            <a:ext cx="114300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38912" y="4197096"/>
            <a:ext cx="3383279" cy="292608"/>
          </a:xfrm>
          <a:prstGeom prst="rect">
            <a:avLst/>
          </a:prstGeom>
          <a:noFill/>
        </p:spPr>
        <p:txBody>
          <a:bodyPr wrap="square">
            <a:spAutoFit/>
          </a:bodyPr>
          <a:lstStyle/>
          <a:p>
            <a:pPr algn="l"/>
            <a:r>
              <a:rPr sz="1200" b="0">
                <a:solidFill>
                  <a:srgbClr val="1A1A1A"/>
                </a:solidFill>
              </a:rPr>
              <a:t>Environment</a:t>
            </a:r>
          </a:p>
        </p:txBody>
      </p:sp>
      <p:sp>
        <p:nvSpPr>
          <p:cNvPr id="36" name="TextBox 35"/>
          <p:cNvSpPr txBox="1"/>
          <p:nvPr/>
        </p:nvSpPr>
        <p:spPr>
          <a:xfrm>
            <a:off x="4005072" y="4197096"/>
            <a:ext cx="2468879" cy="292608"/>
          </a:xfrm>
          <a:prstGeom prst="rect">
            <a:avLst/>
          </a:prstGeom>
          <a:noFill/>
        </p:spPr>
        <p:txBody>
          <a:bodyPr wrap="square">
            <a:spAutoFit/>
          </a:bodyPr>
          <a:lstStyle/>
          <a:p>
            <a:pPr algn="l"/>
            <a:r>
              <a:rPr sz="1200" b="0">
                <a:solidFill>
                  <a:srgbClr val="1A1A1A"/>
                </a:solidFill>
              </a:rPr>
              <a:t>python-dotenv</a:t>
            </a:r>
          </a:p>
        </p:txBody>
      </p:sp>
      <p:sp>
        <p:nvSpPr>
          <p:cNvPr id="37" name="TextBox 36"/>
          <p:cNvSpPr txBox="1"/>
          <p:nvPr/>
        </p:nvSpPr>
        <p:spPr>
          <a:xfrm>
            <a:off x="6656832" y="4197096"/>
            <a:ext cx="5669280" cy="292608"/>
          </a:xfrm>
          <a:prstGeom prst="rect">
            <a:avLst/>
          </a:prstGeom>
          <a:noFill/>
        </p:spPr>
        <p:txBody>
          <a:bodyPr wrap="square">
            <a:spAutoFit/>
          </a:bodyPr>
          <a:lstStyle/>
          <a:p>
            <a:pPr algn="l"/>
            <a:r>
              <a:rPr sz="1200" b="0">
                <a:solidFill>
                  <a:srgbClr val="1A1A1A"/>
                </a:solidFill>
              </a:rPr>
              <a:t>Secure API key management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25</TotalTime>
  <Words>383</Words>
  <Application>Microsoft Office PowerPoint</Application>
  <PresentationFormat>Custom</PresentationFormat>
  <Paragraphs>74</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Kadaru, Sai Deepa</cp:lastModifiedBy>
  <cp:revision>3</cp:revision>
  <dcterms:created xsi:type="dcterms:W3CDTF">2013-01-27T09:14:16Z</dcterms:created>
  <dcterms:modified xsi:type="dcterms:W3CDTF">2026-06-27T01:23:31Z</dcterms:modified>
  <cp:category/>
</cp:coreProperties>
</file>