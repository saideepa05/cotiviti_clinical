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1" d="100"/>
          <a:sy n="71" d="100"/>
        </p:scale>
        <p:origin x="72" y="2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3A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2926080"/>
            <a:ext cx="1463040" cy="64008"/>
          </a:xfrm>
          <a:prstGeom prst="rect">
            <a:avLst/>
          </a:prstGeom>
          <a:solidFill>
            <a:srgbClr val="D91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COTIVITI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BBEE"/>
                </a:solidFill>
              </a:rPr>
              <a:t>Intern Assessment — Generative AI Developer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09728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FFFFFF"/>
                </a:solidFill>
              </a:rPr>
              <a:t>Clinical Decision Making
and Pattern Recognition
in Health Care</a:t>
            </a:r>
            <a:br>
              <a:rPr lang="en-US" sz="4000" b="1" dirty="0">
                <a:solidFill>
                  <a:srgbClr val="FFFFFF"/>
                </a:solidFill>
              </a:rPr>
            </a:br>
            <a:endParaRPr sz="4000" b="1" dirty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3154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DCCFF"/>
                </a:solidFill>
              </a:rPr>
              <a:t>Agentic AI for Treatment, Payment &amp; Operations (TPO)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86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Sai Deepa Kadaru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83387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BBEE"/>
                </a:solidFill>
              </a:rPr>
              <a:t>Ohio University  |  M.S. Computer Science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CBBEE"/>
                </a:solidFill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COTIVITI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1A1A1A"/>
                </a:solidFill>
              </a:rPr>
              <a:t>  01   Concept Definition</a:t>
            </a:r>
            <a:r>
              <a:rPr lang="en-US" sz="1600" b="0" dirty="0">
                <a:solidFill>
                  <a:srgbClr val="1A1A1A"/>
                </a:solidFill>
              </a:rPr>
              <a:t> - </a:t>
            </a:r>
            <a:r>
              <a:rPr sz="1600" b="0" dirty="0">
                <a:solidFill>
                  <a:srgbClr val="1A1A1A"/>
                </a:solidFill>
              </a:rPr>
              <a:t> What is Clinical Decision Making &amp; Pattern Recognition?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585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  02   Industry Trends Driving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16935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  03   Opportunities &amp; Threats for Cotiviti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75303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  04   Strategic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33671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1A1A1A"/>
                </a:solidFill>
              </a:rPr>
              <a:t>  05   Hackathon POC </a:t>
            </a:r>
            <a:r>
              <a:rPr lang="en-US" sz="1600" b="0" dirty="0">
                <a:solidFill>
                  <a:srgbClr val="1A1A1A"/>
                </a:solidFill>
              </a:rPr>
              <a:t>-</a:t>
            </a:r>
            <a:r>
              <a:rPr sz="1600" b="0" dirty="0">
                <a:solidFill>
                  <a:srgbClr val="1A1A1A"/>
                </a:solidFill>
              </a:rPr>
              <a:t> Architecture &amp;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920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  06   Technology Stack &amp; 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COTIVITI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Concept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BBEE"/>
                </a:solidFill>
              </a:rPr>
              <a:t>What is Clinical Decision Making &amp; Pattern Recognition?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24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666666"/>
                </a:solidFill>
              </a:rPr>
              <a:t>The process of evaluating complex, multi-variable information to determine appropriate courses of action across patient care, payment adjudication, and operational management enabled at scale through AI pattern recognition.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B0082"/>
                </a:solidFill>
              </a:rPr>
              <a:t>Core AI Techniques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3474720" cy="292608"/>
          </a:xfrm>
          <a:prstGeom prst="rect">
            <a:avLst/>
          </a:prstGeom>
          <a:solidFill>
            <a:srgbClr val="F4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8620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B0082"/>
                </a:solidFill>
              </a:rPr>
              <a:t>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862072"/>
            <a:ext cx="7589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Categorize claims, conditions, or operational states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82112"/>
            <a:ext cx="3474720" cy="292608"/>
          </a:xfrm>
          <a:prstGeom prst="rect">
            <a:avLst/>
          </a:prstGeom>
          <a:solidFill>
            <a:srgbClr val="F4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20954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B0082"/>
                </a:solidFill>
              </a:rPr>
              <a:t>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209544"/>
            <a:ext cx="7589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Forecast readmission risk, denial likelihood, capacity shortfalls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29584"/>
            <a:ext cx="3474720" cy="292608"/>
          </a:xfrm>
          <a:prstGeom prst="rect">
            <a:avLst/>
          </a:prstGeom>
          <a:solidFill>
            <a:srgbClr val="F4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557015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B0082"/>
                </a:solidFill>
              </a:rPr>
              <a:t>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557015"/>
            <a:ext cx="7589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Draw conclusions from incomplete clinical or billing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77056"/>
            <a:ext cx="3474720" cy="292608"/>
          </a:xfrm>
          <a:prstGeom prst="rect">
            <a:avLst/>
          </a:prstGeom>
          <a:solidFill>
            <a:srgbClr val="F4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9044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B0082"/>
                </a:solidFill>
              </a:rPr>
              <a:t>Clustering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904488"/>
            <a:ext cx="7589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Group similar patient cohorts or billing patterns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24528"/>
            <a:ext cx="3474720" cy="292608"/>
          </a:xfrm>
          <a:prstGeom prst="rect">
            <a:avLst/>
          </a:prstGeom>
          <a:solidFill>
            <a:srgbClr val="F4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2519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B0082"/>
                </a:solidFill>
              </a:rPr>
              <a:t>Time-Series Anomaly Det.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251960"/>
            <a:ext cx="7589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Flag statistical outliers in claims volume or utilization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72000"/>
            <a:ext cx="3474720" cy="292608"/>
          </a:xfrm>
          <a:prstGeom prst="rect">
            <a:avLst/>
          </a:prstGeom>
          <a:solidFill>
            <a:srgbClr val="F4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5994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B0082"/>
                </a:solidFill>
              </a:rPr>
              <a:t>Chain Reasoning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599432"/>
            <a:ext cx="7589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Multi-step goal-directed autonomous decision workflows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COTIVITI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Industry Trends Driving Adoption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73152" cy="822960"/>
          </a:xfrm>
          <a:prstGeom prst="rect">
            <a:avLst/>
          </a:prstGeom>
          <a:solidFill>
            <a:srgbClr val="D91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B0082"/>
                </a:solidFill>
              </a:rPr>
              <a:t>LLMs in Clinical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666666"/>
                </a:solidFill>
              </a:rPr>
              <a:t>Large language models now interpret unstructured clinical text and generate evidence-based recommendations shifting from rule-based systems to reasoning-capable AI</a:t>
            </a:r>
            <a:r>
              <a:rPr lang="en-US" sz="1300" b="0" dirty="0">
                <a:solidFill>
                  <a:srgbClr val="666666"/>
                </a:solidFill>
              </a:rPr>
              <a:t>.</a:t>
            </a:r>
            <a:endParaRPr sz="1300" b="0" dirty="0">
              <a:solidFill>
                <a:srgbClr val="66666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2651760"/>
            <a:ext cx="73152" cy="822960"/>
          </a:xfrm>
          <a:prstGeom prst="rect">
            <a:avLst/>
          </a:prstGeom>
          <a:solidFill>
            <a:srgbClr val="D91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651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B0082"/>
                </a:solidFill>
              </a:rPr>
              <a:t>Agentic AI Architectures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71800"/>
            <a:ext cx="11155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666666"/>
                </a:solidFill>
              </a:rPr>
              <a:t>Multi-agent frameworks (</a:t>
            </a:r>
            <a:r>
              <a:rPr sz="1300" b="0" dirty="0" err="1">
                <a:solidFill>
                  <a:srgbClr val="666666"/>
                </a:solidFill>
              </a:rPr>
              <a:t>LangGraph</a:t>
            </a:r>
            <a:r>
              <a:rPr sz="1300" b="0" dirty="0">
                <a:solidFill>
                  <a:srgbClr val="666666"/>
                </a:solidFill>
              </a:rPr>
              <a:t>) enable autonomous pipelines spanning clinical review, coding validation, and operational triage in a single workflow</a:t>
            </a:r>
            <a:r>
              <a:rPr lang="en-US" sz="1300" b="0" dirty="0">
                <a:solidFill>
                  <a:srgbClr val="666666"/>
                </a:solidFill>
              </a:rPr>
              <a:t>.</a:t>
            </a:r>
            <a:endParaRPr sz="1300" b="0" dirty="0">
              <a:solidFill>
                <a:srgbClr val="666666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73152" cy="822960"/>
          </a:xfrm>
          <a:prstGeom prst="rect">
            <a:avLst/>
          </a:prstGeom>
          <a:solidFill>
            <a:srgbClr val="D91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703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B0082"/>
                </a:solidFill>
              </a:rPr>
              <a:t>Regulatory Explainability 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023359"/>
            <a:ext cx="11155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666666"/>
                </a:solidFill>
              </a:rPr>
              <a:t>ONC HTI-1 and CMS guidance mandate transparency in AI-assisted payment and clinical decisions driving demand for audit-ready, explainable AI systems</a:t>
            </a:r>
            <a:r>
              <a:rPr lang="en-US" sz="1300" b="0" dirty="0">
                <a:solidFill>
                  <a:srgbClr val="666666"/>
                </a:solidFill>
              </a:rPr>
              <a:t>.</a:t>
            </a:r>
            <a:endParaRPr sz="1300" b="0" dirty="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COTIVITI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Opportunities &amp; Threats for Cotiviti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486400" cy="32004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  Opportunities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54864" cy="502920"/>
          </a:xfrm>
          <a:prstGeom prst="rect">
            <a:avLst/>
          </a:prstGeom>
          <a:solidFill>
            <a:srgbClr val="D91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1A1A1A"/>
                </a:solidFill>
              </a:rPr>
              <a:t>Autonomous payment integrity </a:t>
            </a:r>
            <a:r>
              <a:rPr lang="en-US" sz="1200" b="0" dirty="0">
                <a:solidFill>
                  <a:srgbClr val="1A1A1A"/>
                </a:solidFill>
              </a:rPr>
              <a:t>- </a:t>
            </a:r>
            <a:r>
              <a:rPr sz="1200" b="0" dirty="0">
                <a:solidFill>
                  <a:srgbClr val="1A1A1A"/>
                </a:solidFill>
              </a:rPr>
              <a:t>automate FWA detection
  saving from $300B annual fraud waste 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78608"/>
            <a:ext cx="54864" cy="502920"/>
          </a:xfrm>
          <a:prstGeom prst="rect">
            <a:avLst/>
          </a:prstGeom>
          <a:solidFill>
            <a:srgbClr val="D91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578608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1A1A1A"/>
                </a:solidFill>
              </a:rPr>
              <a:t>Real-time anomaly detection </a:t>
            </a:r>
            <a:r>
              <a:rPr lang="en-US" sz="1200" b="0" dirty="0">
                <a:solidFill>
                  <a:srgbClr val="1A1A1A"/>
                </a:solidFill>
              </a:rPr>
              <a:t>-</a:t>
            </a:r>
            <a:r>
              <a:rPr sz="1200" b="0" dirty="0">
                <a:solidFill>
                  <a:srgbClr val="1A1A1A"/>
                </a:solidFill>
              </a:rPr>
              <a:t> shift from retrospective
  audit to prospective pre-payment accuracy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36976"/>
            <a:ext cx="54864" cy="502920"/>
          </a:xfrm>
          <a:prstGeom prst="rect">
            <a:avLst/>
          </a:prstGeom>
          <a:solidFill>
            <a:srgbClr val="D91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236976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1A1A1A"/>
                </a:solidFill>
              </a:rPr>
              <a:t>AI Governance product  explainability &amp; audit trails
  as a standalone compliance offering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508760"/>
            <a:ext cx="5394960" cy="32004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  Threats &amp; Risks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920240"/>
            <a:ext cx="54864" cy="50292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1920240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1A1A1A"/>
                </a:solidFill>
              </a:rPr>
              <a:t>Hallucination &amp; liability </a:t>
            </a:r>
            <a:r>
              <a:rPr lang="en-US" sz="1200" b="0" dirty="0">
                <a:solidFill>
                  <a:srgbClr val="1A1A1A"/>
                </a:solidFill>
              </a:rPr>
              <a:t>-</a:t>
            </a:r>
            <a:r>
              <a:rPr sz="1200" b="0" dirty="0">
                <a:solidFill>
                  <a:srgbClr val="1A1A1A"/>
                </a:solidFill>
              </a:rPr>
              <a:t> incorrect AI decisions
  carry direct financial and legal risk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578608"/>
            <a:ext cx="54864" cy="50292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2578608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1A1A1A"/>
                </a:solidFill>
              </a:rPr>
              <a:t>HIPAA compliance </a:t>
            </a:r>
            <a:r>
              <a:rPr lang="en-US" sz="1200" b="0" dirty="0">
                <a:solidFill>
                  <a:srgbClr val="1A1A1A"/>
                </a:solidFill>
              </a:rPr>
              <a:t>-</a:t>
            </a:r>
            <a:r>
              <a:rPr sz="1200" b="0" dirty="0">
                <a:solidFill>
                  <a:srgbClr val="1A1A1A"/>
                </a:solidFill>
              </a:rPr>
              <a:t> LLMs on PHI require strict
  data governance &amp; BAAs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236976"/>
            <a:ext cx="54864" cy="50292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3236976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1A1A1A"/>
                </a:solidFill>
              </a:rPr>
              <a:t>Competitive displacement </a:t>
            </a:r>
            <a:r>
              <a:rPr lang="en-US" sz="1200" b="0" dirty="0">
                <a:solidFill>
                  <a:srgbClr val="1A1A1A"/>
                </a:solidFill>
              </a:rPr>
              <a:t>-</a:t>
            </a:r>
            <a:r>
              <a:rPr sz="1200" b="0" dirty="0">
                <a:solidFill>
                  <a:srgbClr val="1A1A1A"/>
                </a:solidFill>
              </a:rPr>
              <a:t> EHR vendors &amp; cloud
  providers building native AI capabilities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COTIVITI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Strategic Recommendations for Cotiviti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640080" cy="64008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00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B0082"/>
                </a:solidFill>
              </a:rPr>
              <a:t>Agentic Payment Integrity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2024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666666"/>
                </a:solidFill>
              </a:rPr>
              <a:t>Deploy a production multi-agent system for end-to-end claim classification, LLM-based medical necessity review, and anomaly detection </a:t>
            </a:r>
            <a:r>
              <a:rPr lang="en-US" sz="1200" b="0" dirty="0">
                <a:solidFill>
                  <a:srgbClr val="666666"/>
                </a:solidFill>
              </a:rPr>
              <a:t>-</a:t>
            </a:r>
            <a:r>
              <a:rPr sz="1200" b="0" dirty="0">
                <a:solidFill>
                  <a:srgbClr val="666666"/>
                </a:solidFill>
              </a:rPr>
              <a:t> extending Cotiviti's payment accuracy capabilities with generative AI reasoning. 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06040"/>
            <a:ext cx="640080" cy="64008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697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606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B0082"/>
                </a:solidFill>
              </a:rPr>
              <a:t>Clinical AI Governance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92608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666666"/>
                </a:solidFill>
              </a:rPr>
              <a:t>Build a standalone product wrapping any AI clinical decision with evaluation scoring, audit logging, and configurable human escalation </a:t>
            </a:r>
            <a:r>
              <a:rPr lang="en-US" sz="1200" b="0" dirty="0">
                <a:solidFill>
                  <a:srgbClr val="666666"/>
                </a:solidFill>
              </a:rPr>
              <a:t>-</a:t>
            </a:r>
            <a:r>
              <a:rPr sz="1200" b="0" dirty="0">
                <a:solidFill>
                  <a:srgbClr val="666666"/>
                </a:solidFill>
              </a:rPr>
              <a:t> offered to payer clients as a compliance tool independent of the underlying AI system.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11880"/>
            <a:ext cx="640080" cy="64008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3703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611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B0082"/>
                </a:solidFill>
              </a:rPr>
              <a:t>Healthcare AI Evaluation Benchmark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93192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666666"/>
                </a:solidFill>
              </a:rPr>
              <a:t>Leverage Cotiviti's proprietary payment accuracy data to define domain-specific benchmarks for clinical AI </a:t>
            </a:r>
            <a:r>
              <a:rPr lang="en-US" sz="1200" b="0" dirty="0">
                <a:solidFill>
                  <a:srgbClr val="666666"/>
                </a:solidFill>
              </a:rPr>
              <a:t>-</a:t>
            </a:r>
            <a:r>
              <a:rPr sz="1200" b="0" dirty="0">
                <a:solidFill>
                  <a:srgbClr val="666666"/>
                </a:solidFill>
              </a:rPr>
              <a:t> differentiating from general-purpose AI vendors and creating a recurring benchmarking-as-a-service revenue stream.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COTIVITI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Hackathon POC —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BBEE"/>
                </a:solidFill>
              </a:rPr>
              <a:t>LangGraph Multi-Agent Clinical Decision Support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2011680" cy="8686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92024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User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1031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B0082"/>
                </a:solidFill>
              </a:rP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39" y="1828800"/>
            <a:ext cx="2011680" cy="86868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59" y="192024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Validation Gate
gpt-4o-mini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031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B0082"/>
                </a:solidFill>
              </a:rPr>
              <a:t>-&gt;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59" y="1828800"/>
            <a:ext cx="2011680" cy="86868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3479" y="192024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Router Agent
gpt-4o-mini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1031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B0082"/>
                </a:solidFill>
              </a:rPr>
              <a:t>-&gt;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79" y="1828800"/>
            <a:ext cx="2011680" cy="86868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199" y="192024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Domain Agent
gpt-4o-mini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59" y="21031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B0082"/>
                </a:solidFill>
              </a:rPr>
              <a:t>-&gt;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1828800"/>
            <a:ext cx="2011680" cy="868680"/>
          </a:xfrm>
          <a:prstGeom prst="rect">
            <a:avLst/>
          </a:prstGeom>
          <a:solidFill>
            <a:srgbClr val="D91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46920" y="192024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LLM-as-Judge
gpt-5-nano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108960"/>
            <a:ext cx="1920240" cy="6858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1732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Treatment
Agent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108960"/>
            <a:ext cx="1920240" cy="6858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65612" y="32232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Payment
Agent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3108960"/>
            <a:ext cx="1920240" cy="6858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6948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Operations
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2834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666666"/>
                </a:solidFill>
              </a:rPr>
              <a:t>Routed by classified domain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160520"/>
            <a:ext cx="2377440" cy="685800"/>
          </a:xfrm>
          <a:prstGeom prst="rect">
            <a:avLst/>
          </a:prstGeom>
          <a:solidFill>
            <a:srgbClr val="F4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425195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B0082"/>
                </a:solidFill>
              </a:rPr>
              <a:t>Structured Decision
+ Risk Level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4160520"/>
            <a:ext cx="2377440" cy="685800"/>
          </a:xfrm>
          <a:prstGeom prst="rect">
            <a:avLst/>
          </a:prstGeom>
          <a:solidFill>
            <a:srgbClr val="F4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46120" y="425195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B0082"/>
                </a:solidFill>
              </a:rPr>
              <a:t>Chain-of-Thought
Reasoning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4160520"/>
            <a:ext cx="2377440" cy="685800"/>
          </a:xfrm>
          <a:prstGeom prst="rect">
            <a:avLst/>
          </a:prstGeom>
          <a:solidFill>
            <a:srgbClr val="F4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89320" y="425195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B0082"/>
                </a:solidFill>
              </a:rPr>
              <a:t>Recommended
Actions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4160520"/>
            <a:ext cx="2377440" cy="685800"/>
          </a:xfrm>
          <a:prstGeom prst="rect">
            <a:avLst/>
          </a:prstGeom>
          <a:solidFill>
            <a:srgbClr val="F4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32520" y="425195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B0082"/>
                </a:solidFill>
              </a:rPr>
              <a:t>Evaluation
Scores (0-100)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38907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666666"/>
                </a:solidFill>
              </a:rPr>
              <a:t>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COTIVITI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Hackathon POC —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BBEE"/>
                </a:solidFill>
              </a:rPr>
              <a:t>Streamlit app | LangGraph | OpenAI | Cotiviti-branded UI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4864" cy="548640"/>
          </a:xfrm>
          <a:prstGeom prst="rect">
            <a:avLst/>
          </a:prstGeom>
          <a:solidFill>
            <a:srgbClr val="D91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B0082"/>
                </a:solidFill>
              </a:rPr>
              <a:t>Input Validation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1155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666666"/>
                </a:solidFill>
              </a:rPr>
              <a:t>Rejects non-healthcare queries before they reach the pipeline </a:t>
            </a:r>
            <a:r>
              <a:rPr lang="en-US" sz="1200" b="0" dirty="0">
                <a:solidFill>
                  <a:srgbClr val="666666"/>
                </a:solidFill>
              </a:rPr>
              <a:t>-</a:t>
            </a:r>
            <a:r>
              <a:rPr sz="1200" b="0" dirty="0">
                <a:solidFill>
                  <a:srgbClr val="666666"/>
                </a:solidFill>
              </a:rPr>
              <a:t> demonstrates system boundary thinking and production-readiness.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50008"/>
            <a:ext cx="54864" cy="548640"/>
          </a:xfrm>
          <a:prstGeom prst="rect">
            <a:avLst/>
          </a:prstGeom>
          <a:solidFill>
            <a:srgbClr val="D91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3500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B0082"/>
                </a:solidFill>
              </a:rPr>
              <a:t>Multi-Agent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24327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LangGraph state machine classifies and routes queries to specialized Treatment, Payment, or Operations domain agents.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99815"/>
            <a:ext cx="54864" cy="548640"/>
          </a:xfrm>
          <a:prstGeom prst="rect">
            <a:avLst/>
          </a:prstGeom>
          <a:solidFill>
            <a:srgbClr val="D91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099815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B0082"/>
                </a:solidFill>
              </a:rPr>
              <a:t>Chain-of-Thought 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74135"/>
            <a:ext cx="11155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666666"/>
                </a:solidFill>
              </a:rPr>
              <a:t>Each domain agent reasons step by step </a:t>
            </a:r>
            <a:r>
              <a:rPr lang="en-US" sz="1200" b="0" dirty="0">
                <a:solidFill>
                  <a:srgbClr val="666666"/>
                </a:solidFill>
              </a:rPr>
              <a:t>-</a:t>
            </a:r>
            <a:r>
              <a:rPr sz="1200" b="0" dirty="0">
                <a:solidFill>
                  <a:srgbClr val="666666"/>
                </a:solidFill>
              </a:rPr>
              <a:t> applying CMS guidelines, clinical evidence, or compliance standards before reaching a decision.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49624"/>
            <a:ext cx="54864" cy="548640"/>
          </a:xfrm>
          <a:prstGeom prst="rect">
            <a:avLst/>
          </a:prstGeom>
          <a:solidFill>
            <a:srgbClr val="D91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84962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B0082"/>
                </a:solidFill>
              </a:rPr>
              <a:t>Risk 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23944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Structured output returns low / medium / high risk with domain-specific criteria for each level, not a generic label.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599432"/>
            <a:ext cx="54864" cy="548640"/>
          </a:xfrm>
          <a:prstGeom prst="rect">
            <a:avLst/>
          </a:prstGeom>
          <a:solidFill>
            <a:srgbClr val="D91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5994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B0082"/>
                </a:solidFill>
              </a:rPr>
              <a:t>LLM-as-Judge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737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gpt-5-nano independently scores each decision on Domain Accuracy, Regulatory Alignment, and Completeness (0-100).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COTIVITI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097280" cy="36576"/>
          </a:xfrm>
          <a:prstGeom prst="rect">
            <a:avLst/>
          </a:prstGeom>
          <a:solidFill>
            <a:srgbClr val="D91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430000" cy="347472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1636776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5072" y="1636776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6832" y="1636776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65960"/>
            <a:ext cx="11430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" y="2002536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Agent Orchestration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5072" y="2002536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LangGraph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2002536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State machine for multi-agent routing workflow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31720"/>
            <a:ext cx="11430000" cy="347472"/>
          </a:xfrm>
          <a:prstGeom prst="rect">
            <a:avLst/>
          </a:prstGeom>
          <a:solidFill>
            <a:srgbClr val="F4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" y="2368296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LLM 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5072" y="2368296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LangChain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2368296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Prompt templates, structured output, chains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97479"/>
            <a:ext cx="11430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2734056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Generation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5072" y="2734056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gpt-4o-mini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2734056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Routing, domain reasoning,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063239"/>
            <a:ext cx="11430000" cy="347472"/>
          </a:xfrm>
          <a:prstGeom prst="rect">
            <a:avLst/>
          </a:prstGeom>
          <a:solidFill>
            <a:srgbClr val="F4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" y="3099815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Evaluation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05072" y="3099815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gpt-5-nano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2" y="3099815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LLM-as-Judge independent scoring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428999"/>
            <a:ext cx="11430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912" y="3465575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Structured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05072" y="3465575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Pydantic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3465575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Type-safe agent output schemas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794759"/>
            <a:ext cx="11430000" cy="347472"/>
          </a:xfrm>
          <a:prstGeom prst="rect">
            <a:avLst/>
          </a:prstGeom>
          <a:solidFill>
            <a:srgbClr val="F4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8912" y="3831335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05072" y="3831335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Streamlit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6832" y="3831335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Interactive web interface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160520"/>
            <a:ext cx="11430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8912" y="4197096"/>
            <a:ext cx="3383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Environment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05072" y="4197096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python-dotenv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56832" y="4197096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Secure API key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3A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COTIVITI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4864" cy="502920"/>
          </a:xfrm>
          <a:prstGeom prst="rect">
            <a:avLst/>
          </a:prstGeom>
          <a:solidFill>
            <a:srgbClr val="D91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247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</a:rPr>
              <a:t>Agentic AI is the next evolution of clinical decision support </a:t>
            </a:r>
            <a:r>
              <a:rPr lang="en-US" sz="1400" dirty="0">
                <a:solidFill>
                  <a:srgbClr val="FFFFFF"/>
                </a:solidFill>
              </a:rPr>
              <a:t>- </a:t>
            </a:r>
            <a:r>
              <a:rPr sz="1400" b="0" dirty="0">
                <a:solidFill>
                  <a:srgbClr val="FFFFFF"/>
                </a:solidFill>
              </a:rPr>
              <a:t>moving from static rules to autonomous reasoning pipelines.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54864" cy="502920"/>
          </a:xfrm>
          <a:prstGeom prst="rect">
            <a:avLst/>
          </a:prstGeom>
          <a:solidFill>
            <a:srgbClr val="D91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Cotiviti's payment accuracy data is a strategic asset for building domain-specific AI that general-purpose vendors cannot replicate.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88920"/>
            <a:ext cx="54864" cy="502920"/>
          </a:xfrm>
          <a:prstGeom prst="rect">
            <a:avLst/>
          </a:prstGeom>
          <a:solidFill>
            <a:srgbClr val="D91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11247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</a:rPr>
              <a:t>Explainability and AI governance are regulatory requirements </a:t>
            </a:r>
            <a:r>
              <a:rPr lang="en-US" sz="1400" b="0" dirty="0">
                <a:solidFill>
                  <a:srgbClr val="FFFFFF"/>
                </a:solidFill>
              </a:rPr>
              <a:t>-</a:t>
            </a:r>
            <a:r>
              <a:rPr sz="1400" b="0" dirty="0">
                <a:solidFill>
                  <a:srgbClr val="FFFFFF"/>
                </a:solidFill>
              </a:rPr>
              <a:t> not differentiators. Building them in from the start is essential.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66160"/>
            <a:ext cx="54864" cy="502920"/>
          </a:xfrm>
          <a:prstGeom prst="rect">
            <a:avLst/>
          </a:prstGeom>
          <a:solidFill>
            <a:srgbClr val="D91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566160"/>
            <a:ext cx="1124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</a:rPr>
              <a:t>The POC demonstrates </a:t>
            </a:r>
            <a:r>
              <a:rPr sz="1400" b="0" dirty="0" err="1">
                <a:solidFill>
                  <a:srgbClr val="FFFFFF"/>
                </a:solidFill>
              </a:rPr>
              <a:t>LangGraph</a:t>
            </a:r>
            <a:r>
              <a:rPr sz="1400" b="0" dirty="0">
                <a:solidFill>
                  <a:srgbClr val="FFFFFF"/>
                </a:solidFill>
              </a:rPr>
              <a:t> multi-agent routing, chain reasoning, structured output, and LLM-as-Judge evaluation </a:t>
            </a:r>
            <a:r>
              <a:rPr lang="en-US" sz="1400" b="0" dirty="0">
                <a:solidFill>
                  <a:srgbClr val="FFFFFF"/>
                </a:solidFill>
              </a:rPr>
              <a:t>-</a:t>
            </a:r>
            <a:r>
              <a:rPr sz="1400" b="0" dirty="0">
                <a:solidFill>
                  <a:srgbClr val="FFFFFF"/>
                </a:solidFill>
              </a:rPr>
              <a:t> all applicable to Cotiviti's TPO workflows.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394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BBEE"/>
                </a:solidFill>
              </a:rPr>
              <a:t>Sai Deepa Kadaru  |  Ohio University  |  June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7150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88DD"/>
                </a:solidFill>
              </a:rPr>
              <a:t>github.com/saideepa05/cotiviti_clinical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831</Words>
  <Application>Microsoft Office PowerPoint</Application>
  <PresentationFormat>Custom</PresentationFormat>
  <Paragraphs>129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Kadaru, Sai Deepa</cp:lastModifiedBy>
  <cp:revision>2</cp:revision>
  <dcterms:created xsi:type="dcterms:W3CDTF">2013-01-27T09:14:16Z</dcterms:created>
  <dcterms:modified xsi:type="dcterms:W3CDTF">2026-06-27T01:03:57Z</dcterms:modified>
  <cp:category/>
</cp:coreProperties>
</file>